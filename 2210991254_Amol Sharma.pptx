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9"/>
  </p:notesMasterIdLst>
  <p:handoutMasterIdLst>
    <p:handoutMasterId r:id="rId20"/>
  </p:handoutMasterIdLst>
  <p:sldIdLst>
    <p:sldId id="256" r:id="rId5"/>
    <p:sldId id="269" r:id="rId6"/>
    <p:sldId id="298" r:id="rId7"/>
    <p:sldId id="275" r:id="rId8"/>
    <p:sldId id="270" r:id="rId9"/>
    <p:sldId id="299" r:id="rId10"/>
    <p:sldId id="300" r:id="rId11"/>
    <p:sldId id="297" r:id="rId12"/>
    <p:sldId id="271" r:id="rId13"/>
    <p:sldId id="272" r:id="rId14"/>
    <p:sldId id="273" r:id="rId15"/>
    <p:sldId id="281" r:id="rId16"/>
    <p:sldId id="296" r:id="rId17"/>
    <p:sldId id="268" r:id="rId18"/>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7559BD0-A2D9-4A1F-9466-ED6B52A42C00}">
          <p14:sldIdLst>
            <p14:sldId id="256"/>
            <p14:sldId id="269"/>
            <p14:sldId id="298"/>
            <p14:sldId id="275"/>
            <p14:sldId id="270"/>
            <p14:sldId id="299"/>
            <p14:sldId id="300"/>
            <p14:sldId id="297"/>
            <p14:sldId id="271"/>
            <p14:sldId id="272"/>
            <p14:sldId id="273"/>
            <p14:sldId id="281"/>
            <p14:sldId id="296"/>
            <p14:sldId id="268"/>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3" d="100"/>
          <a:sy n="83" d="100"/>
        </p:scale>
        <p:origin x="1450"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5/17/2026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5/17/2026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4"/>
          </p:nvPr>
        </p:nvSpPr>
        <p:spPr/>
        <p:txBody>
          <a:bodyPr/>
          <a:lstStyle/>
          <a:p>
            <a:r>
              <a:rPr lang="en-US"/>
              <a:t>Name of the faculty [Group: G00] [Sem:2nd]</a:t>
            </a:r>
          </a:p>
        </p:txBody>
      </p:sp>
      <p:sp>
        <p:nvSpPr>
          <p:cNvPr id="5" name="Slide Number Placeholder 4"/>
          <p:cNvSpPr>
            <a:spLocks noGrp="1"/>
          </p:cNvSpPr>
          <p:nvPr>
            <p:ph type="sldNum" sz="quarter" idx="5"/>
          </p:nvPr>
        </p:nvSpPr>
        <p:spPr/>
        <p:txBody>
          <a:bodyPr/>
          <a:lstStyle/>
          <a:p>
            <a:fld id="{C5A7523A-12D4-4E0F-9409-B3F845B48333}" type="slidenum">
              <a:rPr lang="en-US" smtClean="0"/>
              <a:pPr/>
              <a:t>7</a:t>
            </a:fld>
            <a:endParaRPr lang="en-US"/>
          </a:p>
        </p:txBody>
      </p:sp>
    </p:spTree>
    <p:extLst>
      <p:ext uri="{BB962C8B-B14F-4D97-AF65-F5344CB8AC3E}">
        <p14:creationId xmlns:p14="http://schemas.microsoft.com/office/powerpoint/2010/main" val="3796472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a:solidFill>
                  <a:srgbClr val="000000"/>
                </a:solidFill>
                <a:latin typeface="Calibri"/>
                <a:ea typeface="MS PGothic"/>
              </a:rPr>
              <a:t>Click to edit Master title style</a:t>
            </a:r>
            <a:endParaRPr lang="en-US" sz="3000" b="0" strike="noStrike" spc="-1">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a:solidFill>
                  <a:srgbClr val="000000"/>
                </a:solidFill>
                <a:latin typeface="Calibri"/>
                <a:ea typeface="MS PGothic"/>
              </a:rPr>
              <a:t>Click to edit Master text styles</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a:solidFill>
                  <a:srgbClr val="000000"/>
                </a:solidFill>
                <a:latin typeface="Calibri"/>
                <a:ea typeface="MS PGothic"/>
              </a:rPr>
              <a:t>Second level</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a:solidFill>
                  <a:srgbClr val="000000"/>
                </a:solidFill>
                <a:latin typeface="Calibri"/>
                <a:ea typeface="MS PGothic"/>
              </a:rPr>
              <a:t>Third level</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a:solidFill>
                  <a:srgbClr val="000000"/>
                </a:solidFill>
                <a:latin typeface="Calibri"/>
                <a:ea typeface="MS PGothic"/>
              </a:rPr>
              <a:t>Fourth level</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a:solidFill>
                  <a:srgbClr val="000000"/>
                </a:solidFill>
                <a:latin typeface="Calibri"/>
                <a:ea typeface="MS PGothic"/>
              </a:rPr>
              <a:t>Fifth level</a:t>
            </a:r>
            <a:endParaRPr lang="en-US" sz="2000" b="0" strike="noStrike" spc="-1">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815808"/>
          </a:xfrm>
          <a:prstGeom prst="rect">
            <a:avLst/>
          </a:prstGeom>
          <a:noFill/>
          <a:ln w="9360">
            <a:noFill/>
          </a:ln>
        </p:spPr>
        <p:txBody>
          <a:bodyPr>
            <a:noAutofit/>
          </a:bodyPr>
          <a:lstStyle/>
          <a:p>
            <a:pPr algn="ctr"/>
            <a:r>
              <a:rPr lang="en-US" b="1" dirty="0">
                <a:latin typeface="Times New Roman" panose="02020603050405020304" pitchFamily="18" charset="0"/>
                <a:ea typeface="Calibri" panose="020F0502020204030204" pitchFamily="34" charset="0"/>
                <a:cs typeface="Times New Roman" panose="02020603050405020304" pitchFamily="18" charset="0"/>
              </a:rPr>
              <a:t>Project Presentation of CO-OP Project at Industry (Module-2) (22CS421)</a:t>
            </a:r>
            <a:endParaRPr lang="en-IN" b="1" dirty="0">
              <a:latin typeface="Times New Roman" panose="02020603050405020304" pitchFamily="18" charset="0"/>
              <a:ea typeface="Calibri" panose="020F0502020204030204" pitchFamily="34" charset="0"/>
              <a:cs typeface="Times New Roman" panose="02020603050405020304" pitchFamily="18" charset="0"/>
            </a:endParaRPr>
          </a:p>
          <a:p>
            <a:pPr algn="ct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b="1" dirty="0"/>
              <a:t>Privacy Preserving Edge AI Based Attention and Emotion Tracking System for Hybrid Classrooms</a:t>
            </a: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Submitted By:</a:t>
            </a:r>
          </a:p>
          <a:p>
            <a:pPr lvl="7">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Amol Sharma 2210991254</a:t>
            </a:r>
          </a:p>
          <a:p>
            <a:pPr lvl="7">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Aman              2210991243</a:t>
            </a:r>
          </a:p>
          <a:p>
            <a:pPr lvl="7">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Ashish             2210991399</a:t>
            </a:r>
          </a:p>
          <a:p>
            <a:pPr lvl="7">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Ronit               2210992186</a:t>
            </a: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lvl="7">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lvl="7">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lvl="7">
              <a:spcBef>
                <a:spcPts val="400"/>
              </a:spcBef>
            </a:pPr>
            <a:r>
              <a:rPr lang="en-US" sz="2000" b="1" spc="-1" dirty="0">
                <a:latin typeface="Times New Roman" panose="02020603050405020304" pitchFamily="18" charset="0"/>
                <a:ea typeface="MS PGothic"/>
                <a:cs typeface="Times New Roman" panose="02020603050405020304" pitchFamily="18" charset="0"/>
              </a:rPr>
              <a:t>Dr. Gifty Gupta</a:t>
            </a: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4170C55-03E0-CF89-1AE9-5E10FD961757}"/>
              </a:ext>
            </a:extLst>
          </p:cNvPr>
          <p:cNvSpPr txBox="1"/>
          <p:nvPr/>
        </p:nvSpPr>
        <p:spPr>
          <a:xfrm>
            <a:off x="503533" y="1180441"/>
            <a:ext cx="8227512" cy="3494226"/>
          </a:xfrm>
          <a:prstGeom prst="rect">
            <a:avLst/>
          </a:prstGeom>
          <a:noFill/>
        </p:spPr>
        <p:txBody>
          <a:bodyPr wrap="square" rtlCol="0">
            <a:spAutoFit/>
          </a:bodyPr>
          <a:lstStyle/>
          <a:p>
            <a:pPr lvl="0" fontAlgn="base">
              <a:lnSpc>
                <a:spcPct val="107000"/>
              </a:lnSpc>
              <a:spcAft>
                <a:spcPts val="65"/>
              </a:spcAft>
              <a:buClr>
                <a:srgbClr val="000000"/>
              </a:buClr>
              <a:buSzPts val="1150"/>
            </a:pPr>
            <a:r>
              <a:rPr lang="en-IN" sz="2400" b="1" u="sng"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Project Statement:</a:t>
            </a:r>
            <a:r>
              <a:rPr lang="en-IN" sz="2400" b="1"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en-IN" sz="3200" b="1"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p>
          <a:p>
            <a:pPr algn="l">
              <a:lnSpc>
                <a:spcPts val="3750"/>
              </a:lnSpc>
            </a:pPr>
            <a:r>
              <a:rPr lang="en-US" sz="2000" dirty="0">
                <a:latin typeface="Times New Roman" panose="02020603050405020304" pitchFamily="18" charset="0"/>
                <a:cs typeface="Times New Roman" panose="02020603050405020304" pitchFamily="18" charset="0"/>
              </a:rPr>
              <a:t>This presentation outlines our experience as an Integrated Project, where we developed an </a:t>
            </a:r>
            <a:r>
              <a:rPr lang="en-US" sz="2000" b="1" dirty="0">
                <a:latin typeface="Times New Roman" panose="02020603050405020304" pitchFamily="18" charset="0"/>
                <a:cs typeface="Times New Roman" panose="02020603050405020304" pitchFamily="18" charset="0"/>
              </a:rPr>
              <a:t>AI-enhanced engagement tracker for young learners</a:t>
            </a:r>
            <a:r>
              <a:rPr lang="en-US" sz="2000" dirty="0">
                <a:latin typeface="Times New Roman" panose="02020603050405020304" pitchFamily="18" charset="0"/>
                <a:cs typeface="Times New Roman" panose="02020603050405020304" pitchFamily="18" charset="0"/>
              </a:rPr>
              <a:t>. We will delve into the project's core elements, including the utilization of </a:t>
            </a:r>
            <a:r>
              <a:rPr lang="en-US" sz="2000" b="1" dirty="0">
                <a:latin typeface="Times New Roman" panose="02020603050405020304" pitchFamily="18" charset="0"/>
                <a:cs typeface="Times New Roman" panose="02020603050405020304" pitchFamily="18" charset="0"/>
              </a:rPr>
              <a:t>AI and deep learning models</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image processing techniques</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real-time feedback mechanisms</a:t>
            </a:r>
            <a:r>
              <a:rPr lang="en-US" sz="2000" dirty="0">
                <a:latin typeface="Times New Roman" panose="02020603050405020304" pitchFamily="18" charset="0"/>
                <a:cs typeface="Times New Roman" panose="02020603050405020304" pitchFamily="18" charset="0"/>
              </a:rPr>
              <a:t>, and the </a:t>
            </a:r>
            <a:r>
              <a:rPr lang="en-US" sz="2000" b="1" dirty="0">
                <a:latin typeface="Times New Roman" panose="02020603050405020304" pitchFamily="18" charset="0"/>
                <a:cs typeface="Times New Roman" panose="02020603050405020304" pitchFamily="18" charset="0"/>
              </a:rPr>
              <a:t>tools and libraries employed</a:t>
            </a:r>
            <a:r>
              <a:rPr lang="en-US" sz="2000" dirty="0">
                <a:latin typeface="Times New Roman" panose="02020603050405020304" pitchFamily="18" charset="0"/>
                <a:cs typeface="Times New Roman" panose="02020603050405020304" pitchFamily="18" charset="0"/>
              </a:rPr>
              <a:t> to enhance focus detection and interaction monitoring in educational settings.</a:t>
            </a:r>
            <a:endParaRPr lang="en-US" sz="2000" dirty="0">
              <a:latin typeface="Times New Roman" panose="02020603050405020304" pitchFamily="18" charset="0"/>
              <a:ea typeface="Quattrocento"/>
              <a:cs typeface="Times New Roman" panose="02020603050405020304" pitchFamily="18" charset="0"/>
              <a:sym typeface="Quattrocento"/>
            </a:endParaRPr>
          </a:p>
        </p:txBody>
      </p:sp>
    </p:spTree>
    <p:extLst>
      <p:ext uri="{BB962C8B-B14F-4D97-AF65-F5344CB8AC3E}">
        <p14:creationId xmlns:p14="http://schemas.microsoft.com/office/powerpoint/2010/main" val="41849676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BA8134B-4FFA-9F2C-90E4-8A2BC50F9FE2}"/>
              </a:ext>
            </a:extLst>
          </p:cNvPr>
          <p:cNvSpPr txBox="1"/>
          <p:nvPr/>
        </p:nvSpPr>
        <p:spPr>
          <a:xfrm>
            <a:off x="383458" y="4134465"/>
            <a:ext cx="8662219" cy="2215991"/>
          </a:xfrm>
          <a:prstGeom prst="rect">
            <a:avLst/>
          </a:prstGeom>
          <a:noFill/>
        </p:spPr>
        <p:txBody>
          <a:bodyPr wrap="square" rtlCol="0">
            <a:spAutoFit/>
          </a:bodyPr>
          <a:lstStyle/>
          <a:p>
            <a:r>
              <a:rPr lang="en-US" sz="2400" kern="1200" dirty="0">
                <a:solidFill>
                  <a:srgbClr val="000000"/>
                </a:solidFill>
                <a:effectLst/>
                <a:latin typeface="Times New Roman" panose="02020603050405020304" pitchFamily="18" charset="0"/>
                <a:ea typeface="Microsoft Sans Serif" panose="020B0604020202020204" pitchFamily="34" charset="0"/>
                <a:cs typeface="Times New Roman" panose="02020603050405020304" pitchFamily="18" charset="0"/>
              </a:rPr>
              <a:t>This presentation outlines our experience as an Integrated Project, where we developed an AI-enhanced engagement tracker for young learners. We will delve into the project's core elements, including the utilization of AI and deep learning models, image processing techniques, and the tools and libraries employed</a:t>
            </a:r>
            <a:r>
              <a:rPr lang="en-US" sz="2400" kern="1200" dirty="0">
                <a:solidFill>
                  <a:srgbClr val="000000"/>
                </a:solidFill>
                <a:effectLst/>
                <a:latin typeface="Times New Roman" panose="02020603050405020304" pitchFamily="18" charset="0"/>
                <a:ea typeface="Quattrocento" panose="02020502030000000404" pitchFamily="18" charset="0"/>
                <a:cs typeface="Times New Roman" panose="02020603050405020304" pitchFamily="18" charset="0"/>
              </a:rPr>
              <a:t>.</a:t>
            </a:r>
            <a:endParaRPr lang="en-IN" sz="2400" dirty="0">
              <a:effectLst/>
            </a:endParaRPr>
          </a:p>
          <a:p>
            <a:endParaRPr lang="en-IN" dirty="0"/>
          </a:p>
        </p:txBody>
      </p:sp>
      <p:pic>
        <p:nvPicPr>
          <p:cNvPr id="8" name="Picture 7">
            <a:extLst>
              <a:ext uri="{FF2B5EF4-FFF2-40B4-BE49-F238E27FC236}">
                <a16:creationId xmlns:a16="http://schemas.microsoft.com/office/drawing/2014/main" id="{CF473E69-FDBA-FDA3-820B-A9F596429C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3458" y="993058"/>
            <a:ext cx="7454977" cy="2949677"/>
          </a:xfrm>
          <a:prstGeom prst="rect">
            <a:avLst/>
          </a:prstGeom>
        </p:spPr>
      </p:pic>
    </p:spTree>
    <p:extLst>
      <p:ext uri="{BB962C8B-B14F-4D97-AF65-F5344CB8AC3E}">
        <p14:creationId xmlns:p14="http://schemas.microsoft.com/office/powerpoint/2010/main" val="24430890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EC30E4-C253-1D88-0EA2-87E636151998}"/>
              </a:ext>
            </a:extLst>
          </p:cNvPr>
          <p:cNvSpPr txBox="1"/>
          <p:nvPr/>
        </p:nvSpPr>
        <p:spPr>
          <a:xfrm>
            <a:off x="1209366" y="962903"/>
            <a:ext cx="7246375" cy="587661"/>
          </a:xfrm>
          <a:prstGeom prst="rect">
            <a:avLst/>
          </a:prstGeom>
          <a:noFill/>
        </p:spPr>
        <p:txBody>
          <a:bodyPr wrap="square" rtlCol="0">
            <a:spAutoFit/>
          </a:bodyPr>
          <a:lstStyle/>
          <a:p>
            <a:pPr algn="l">
              <a:lnSpc>
                <a:spcPts val="4200"/>
              </a:lnSpc>
            </a:pPr>
            <a:r>
              <a:rPr lang="en-US" sz="3200" dirty="0">
                <a:latin typeface="Times New Roman" panose="02020603050405020304" pitchFamily="18" charset="0"/>
                <a:ea typeface="Microsoft Sans Serif" panose="020B0604020202020204" pitchFamily="34" charset="0"/>
                <a:cs typeface="Times New Roman" panose="02020603050405020304" pitchFamily="18" charset="0"/>
                <a:sym typeface="Calibri (MS) Light"/>
              </a:rPr>
              <a:t>Types of AI and Deep Learning:</a:t>
            </a:r>
          </a:p>
        </p:txBody>
      </p:sp>
      <p:sp>
        <p:nvSpPr>
          <p:cNvPr id="4" name="TextBox 3">
            <a:extLst>
              <a:ext uri="{FF2B5EF4-FFF2-40B4-BE49-F238E27FC236}">
                <a16:creationId xmlns:a16="http://schemas.microsoft.com/office/drawing/2014/main" id="{37FFEBF6-F771-F18B-BFF7-72D0F4546FDE}"/>
              </a:ext>
            </a:extLst>
          </p:cNvPr>
          <p:cNvSpPr txBox="1"/>
          <p:nvPr/>
        </p:nvSpPr>
        <p:spPr>
          <a:xfrm>
            <a:off x="88491" y="1837593"/>
            <a:ext cx="9055509" cy="3846630"/>
          </a:xfrm>
          <a:prstGeom prst="rect">
            <a:avLst/>
          </a:prstGeom>
          <a:noFill/>
        </p:spPr>
        <p:txBody>
          <a:bodyPr wrap="square" rtlCol="0">
            <a:spAutoFit/>
          </a:bodyPr>
          <a:lstStyle/>
          <a:p>
            <a:pPr algn="l">
              <a:lnSpc>
                <a:spcPts val="3300"/>
              </a:lnSpc>
            </a:pPr>
            <a:r>
              <a:rPr lang="en-US" sz="2000" b="1" dirty="0">
                <a:latin typeface="Times New Roman" panose="02020603050405020304" pitchFamily="18" charset="0"/>
                <a:ea typeface="Microsoft Sans Serif" panose="020B0604020202020204" pitchFamily="34" charset="0"/>
                <a:cs typeface="Times New Roman" panose="02020603050405020304" pitchFamily="18" charset="0"/>
                <a:sym typeface="Calibri (MS) Bold"/>
              </a:rPr>
              <a:t>Types of AI</a:t>
            </a:r>
          </a:p>
          <a:p>
            <a:pPr marL="414734" lvl="1" indent="-207367" algn="l">
              <a:lnSpc>
                <a:spcPts val="3300"/>
              </a:lnSpc>
              <a:buAutoNum type="arabicPeriod"/>
            </a:pPr>
            <a:r>
              <a:rPr lang="en-US" b="1" dirty="0">
                <a:latin typeface="Times New Roman" panose="02020603050405020304" pitchFamily="18" charset="0"/>
                <a:ea typeface="Microsoft Sans Serif" panose="020B0604020202020204" pitchFamily="34" charset="0"/>
                <a:cs typeface="Times New Roman" panose="02020603050405020304" pitchFamily="18" charset="0"/>
                <a:sym typeface="Calibri (MS) Bold"/>
              </a:rPr>
              <a:t>Narrow AI (Weak AI):</a:t>
            </a:r>
          </a:p>
          <a:p>
            <a:pPr marL="986234" lvl="2" indent="-328745" algn="l">
              <a:lnSpc>
                <a:spcPts val="3300"/>
              </a:lnSpc>
              <a:buAutoNum type="arabicPeriod"/>
            </a:pPr>
            <a:r>
              <a:rPr lang="en-US" dirty="0">
                <a:latin typeface="Times New Roman" panose="02020603050405020304" pitchFamily="18" charset="0"/>
                <a:ea typeface="Microsoft Sans Serif" panose="020B0604020202020204" pitchFamily="34" charset="0"/>
                <a:cs typeface="Times New Roman" panose="02020603050405020304" pitchFamily="18" charset="0"/>
                <a:sym typeface="Calibri (MS)"/>
              </a:rPr>
              <a:t>Designed for specific tasks (e.g., voice assistants, recommendation systems).</a:t>
            </a:r>
          </a:p>
          <a:p>
            <a:pPr marL="414734" lvl="1" indent="-207367" algn="l">
              <a:lnSpc>
                <a:spcPts val="3300"/>
              </a:lnSpc>
              <a:buAutoNum type="arabicPeriod"/>
            </a:pPr>
            <a:r>
              <a:rPr lang="en-US" b="1" dirty="0">
                <a:latin typeface="Times New Roman" panose="02020603050405020304" pitchFamily="18" charset="0"/>
                <a:ea typeface="Microsoft Sans Serif" panose="020B0604020202020204" pitchFamily="34" charset="0"/>
                <a:cs typeface="Times New Roman" panose="02020603050405020304" pitchFamily="18" charset="0"/>
                <a:sym typeface="Calibri (MS) Bold"/>
              </a:rPr>
              <a:t>General AI (Strong AI):</a:t>
            </a:r>
          </a:p>
          <a:p>
            <a:pPr marL="986234" lvl="2" indent="-328745" algn="l">
              <a:lnSpc>
                <a:spcPts val="3300"/>
              </a:lnSpc>
              <a:buAutoNum type="arabicPeriod"/>
            </a:pPr>
            <a:r>
              <a:rPr lang="en-US" dirty="0">
                <a:latin typeface="Times New Roman" panose="02020603050405020304" pitchFamily="18" charset="0"/>
                <a:ea typeface="Microsoft Sans Serif" panose="020B0604020202020204" pitchFamily="34" charset="0"/>
                <a:cs typeface="Times New Roman" panose="02020603050405020304" pitchFamily="18" charset="0"/>
                <a:sym typeface="Calibri (MS)"/>
              </a:rPr>
              <a:t>Mimics human intelligence, capable of learning and problem-solving across diverse domains.</a:t>
            </a:r>
          </a:p>
          <a:p>
            <a:pPr marL="414734" lvl="1" indent="-207367" algn="l">
              <a:lnSpc>
                <a:spcPts val="3300"/>
              </a:lnSpc>
              <a:buAutoNum type="arabicPeriod"/>
            </a:pPr>
            <a:r>
              <a:rPr lang="en-US" b="1" dirty="0">
                <a:latin typeface="Times New Roman" panose="02020603050405020304" pitchFamily="18" charset="0"/>
                <a:ea typeface="Microsoft Sans Serif" panose="020B0604020202020204" pitchFamily="34" charset="0"/>
                <a:cs typeface="Times New Roman" panose="02020603050405020304" pitchFamily="18" charset="0"/>
                <a:sym typeface="Calibri (MS) Bold"/>
              </a:rPr>
              <a:t>Super AI:</a:t>
            </a:r>
          </a:p>
          <a:p>
            <a:pPr marL="986234" lvl="2" indent="-328745" algn="l">
              <a:lnSpc>
                <a:spcPts val="3300"/>
              </a:lnSpc>
              <a:buAutoNum type="arabicPeriod"/>
            </a:pPr>
            <a:r>
              <a:rPr lang="en-US" dirty="0">
                <a:latin typeface="Times New Roman" panose="02020603050405020304" pitchFamily="18" charset="0"/>
                <a:ea typeface="Microsoft Sans Serif" panose="020B0604020202020204" pitchFamily="34" charset="0"/>
                <a:cs typeface="Times New Roman" panose="02020603050405020304" pitchFamily="18" charset="0"/>
                <a:sym typeface="Calibri (MS)"/>
              </a:rPr>
              <a:t>A theoretical concept where AI surpasses human intelligence in all aspects (still in development).</a:t>
            </a:r>
          </a:p>
        </p:txBody>
      </p:sp>
    </p:spTree>
    <p:extLst>
      <p:ext uri="{BB962C8B-B14F-4D97-AF65-F5344CB8AC3E}">
        <p14:creationId xmlns:p14="http://schemas.microsoft.com/office/powerpoint/2010/main" val="16793891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20342A5-5359-8223-156E-C72343DE6838}"/>
              </a:ext>
            </a:extLst>
          </p:cNvPr>
          <p:cNvSpPr txBox="1"/>
          <p:nvPr/>
        </p:nvSpPr>
        <p:spPr>
          <a:xfrm>
            <a:off x="373626" y="1284026"/>
            <a:ext cx="8662220" cy="4570482"/>
          </a:xfrm>
          <a:prstGeom prst="rect">
            <a:avLst/>
          </a:prstGeom>
          <a:noFill/>
        </p:spPr>
        <p:txBody>
          <a:bodyPr wrap="square" rtlCol="0">
            <a:spAutoFit/>
          </a:bodyPr>
          <a:lstStyle/>
          <a:p>
            <a:pPr>
              <a:lnSpc>
                <a:spcPts val="3300"/>
              </a:lnSpc>
            </a:pPr>
            <a:r>
              <a:rPr lang="en-US" sz="2000" b="1" dirty="0">
                <a:latin typeface="Times New Roman" panose="02020603050405020304" pitchFamily="18" charset="0"/>
                <a:ea typeface="Microsoft Sans Serif" panose="020B0604020202020204" pitchFamily="34" charset="0"/>
                <a:cs typeface="Times New Roman" panose="02020603050405020304" pitchFamily="18" charset="0"/>
                <a:sym typeface="Calibri (MS) Bold"/>
              </a:rPr>
              <a:t>Deep Learning</a:t>
            </a:r>
          </a:p>
          <a:p>
            <a:pPr marL="414734" lvl="1" indent="-207367">
              <a:lnSpc>
                <a:spcPts val="3300"/>
              </a:lnSpc>
              <a:buFont typeface="Arial"/>
              <a:buChar char="•"/>
            </a:pPr>
            <a:r>
              <a:rPr lang="en-US" sz="1600" b="1" dirty="0">
                <a:latin typeface="Times New Roman" panose="02020603050405020304" pitchFamily="18" charset="0"/>
                <a:ea typeface="Microsoft Sans Serif" panose="020B0604020202020204" pitchFamily="34" charset="0"/>
                <a:cs typeface="Times New Roman" panose="02020603050405020304" pitchFamily="18" charset="0"/>
                <a:sym typeface="Calibri (MS) Bold"/>
              </a:rPr>
              <a:t>Definition:</a:t>
            </a:r>
          </a:p>
          <a:p>
            <a:pPr marL="414734" lvl="1" indent="-207367">
              <a:lnSpc>
                <a:spcPts val="3300"/>
              </a:lnSpc>
            </a:pPr>
            <a:r>
              <a:rPr lang="en-US" sz="1600" dirty="0">
                <a:latin typeface="Times New Roman" panose="02020603050405020304" pitchFamily="18" charset="0"/>
                <a:ea typeface="Microsoft Sans Serif" panose="020B0604020202020204" pitchFamily="34" charset="0"/>
                <a:cs typeface="Times New Roman" panose="02020603050405020304" pitchFamily="18" charset="0"/>
                <a:sym typeface="Calibri (MS)"/>
              </a:rPr>
              <a:t>A subset of machine learning that uses </a:t>
            </a:r>
            <a:r>
              <a:rPr lang="en-US" sz="1600" b="1" dirty="0">
                <a:latin typeface="Times New Roman" panose="02020603050405020304" pitchFamily="18" charset="0"/>
                <a:ea typeface="Microsoft Sans Serif" panose="020B0604020202020204" pitchFamily="34" charset="0"/>
                <a:cs typeface="Times New Roman" panose="02020603050405020304" pitchFamily="18" charset="0"/>
                <a:sym typeface="Calibri (MS) Bold"/>
              </a:rPr>
              <a:t>neural networks</a:t>
            </a:r>
            <a:r>
              <a:rPr lang="en-US" sz="1600" dirty="0">
                <a:latin typeface="Times New Roman" panose="02020603050405020304" pitchFamily="18" charset="0"/>
                <a:ea typeface="Microsoft Sans Serif" panose="020B0604020202020204" pitchFamily="34" charset="0"/>
                <a:cs typeface="Times New Roman" panose="02020603050405020304" pitchFamily="18" charset="0"/>
                <a:sym typeface="Calibri (MS)"/>
              </a:rPr>
              <a:t> to simulate the way humans learn, enabling AI to process and analyze large, unstructured datasets.</a:t>
            </a:r>
          </a:p>
          <a:p>
            <a:pPr marL="414734" lvl="1" indent="-207367">
              <a:lnSpc>
                <a:spcPts val="3300"/>
              </a:lnSpc>
              <a:buFont typeface="Arial"/>
              <a:buChar char="•"/>
            </a:pPr>
            <a:r>
              <a:rPr lang="en-US" sz="1600" b="1" dirty="0">
                <a:latin typeface="Times New Roman" panose="02020603050405020304" pitchFamily="18" charset="0"/>
                <a:ea typeface="Microsoft Sans Serif" panose="020B0604020202020204" pitchFamily="34" charset="0"/>
                <a:cs typeface="Times New Roman" panose="02020603050405020304" pitchFamily="18" charset="0"/>
                <a:sym typeface="Calibri (MS) Bold"/>
              </a:rPr>
              <a:t>Key Features:</a:t>
            </a:r>
          </a:p>
          <a:p>
            <a:pPr marL="986234" lvl="2" indent="-328745">
              <a:lnSpc>
                <a:spcPts val="3300"/>
              </a:lnSpc>
              <a:buFont typeface="Arial"/>
              <a:buChar char="⚬"/>
            </a:pPr>
            <a:r>
              <a:rPr lang="en-US" sz="1600" dirty="0">
                <a:latin typeface="Times New Roman" panose="02020603050405020304" pitchFamily="18" charset="0"/>
                <a:ea typeface="Microsoft Sans Serif" panose="020B0604020202020204" pitchFamily="34" charset="0"/>
                <a:cs typeface="Times New Roman" panose="02020603050405020304" pitchFamily="18" charset="0"/>
                <a:sym typeface="Calibri (MS)"/>
              </a:rPr>
              <a:t>Multilayered neural networks for hierarchical learning.</a:t>
            </a:r>
          </a:p>
          <a:p>
            <a:pPr marL="986234" lvl="2" indent="-328745">
              <a:lnSpc>
                <a:spcPts val="3300"/>
              </a:lnSpc>
              <a:buFont typeface="Arial"/>
              <a:buChar char="⚬"/>
            </a:pPr>
            <a:r>
              <a:rPr lang="en-US" sz="1600" dirty="0">
                <a:latin typeface="Times New Roman" panose="02020603050405020304" pitchFamily="18" charset="0"/>
                <a:ea typeface="Microsoft Sans Serif" panose="020B0604020202020204" pitchFamily="34" charset="0"/>
                <a:cs typeface="Times New Roman" panose="02020603050405020304" pitchFamily="18" charset="0"/>
                <a:sym typeface="Calibri (MS)"/>
              </a:rPr>
              <a:t>Applications in image recognition, speech processing, and natural language understanding.</a:t>
            </a:r>
          </a:p>
          <a:p>
            <a:pPr marL="414734" lvl="1" indent="-207367">
              <a:lnSpc>
                <a:spcPts val="3300"/>
              </a:lnSpc>
              <a:buFont typeface="Arial"/>
              <a:buChar char="•"/>
            </a:pPr>
            <a:r>
              <a:rPr lang="en-US" sz="1600" b="1" dirty="0">
                <a:latin typeface="Times New Roman" panose="02020603050405020304" pitchFamily="18" charset="0"/>
                <a:ea typeface="Microsoft Sans Serif" panose="020B0604020202020204" pitchFamily="34" charset="0"/>
                <a:cs typeface="Times New Roman" panose="02020603050405020304" pitchFamily="18" charset="0"/>
                <a:sym typeface="Calibri (MS) Bold"/>
              </a:rPr>
              <a:t>Example:</a:t>
            </a:r>
          </a:p>
          <a:p>
            <a:pPr marL="414734" lvl="1" indent="-207367">
              <a:lnSpc>
                <a:spcPts val="3300"/>
              </a:lnSpc>
            </a:pPr>
            <a:r>
              <a:rPr lang="en-US" sz="1600" dirty="0">
                <a:latin typeface="Times New Roman" panose="02020603050405020304" pitchFamily="18" charset="0"/>
                <a:ea typeface="Microsoft Sans Serif" panose="020B0604020202020204" pitchFamily="34" charset="0"/>
                <a:cs typeface="Times New Roman" panose="02020603050405020304" pitchFamily="18" charset="0"/>
                <a:sym typeface="Calibri (MS)"/>
              </a:rPr>
              <a:t>AI-powered image recognition systems that identify objects, emotions, or even classroom engagement levels.</a:t>
            </a:r>
          </a:p>
          <a:p>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9670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D8C4D2E-77B2-870A-665B-460169DAD66C}"/>
              </a:ext>
            </a:extLst>
          </p:cNvPr>
          <p:cNvSpPr txBox="1"/>
          <p:nvPr/>
        </p:nvSpPr>
        <p:spPr>
          <a:xfrm>
            <a:off x="93406" y="845376"/>
            <a:ext cx="8957187" cy="5167248"/>
          </a:xfrm>
          <a:prstGeom prst="rect">
            <a:avLst/>
          </a:prstGeom>
          <a:noFill/>
        </p:spPr>
        <p:txBody>
          <a:bodyPr wrap="square" rtlCol="0">
            <a:spAutoFit/>
          </a:bodyPr>
          <a:lstStyle/>
          <a:p>
            <a:pPr algn="l">
              <a:lnSpc>
                <a:spcPts val="4200"/>
              </a:lnSpc>
            </a:pPr>
            <a:r>
              <a:rPr lang="en-US" sz="1200" b="1" dirty="0">
                <a:latin typeface="Times New Roman" panose="02020603050405020304" pitchFamily="18" charset="0"/>
                <a:ea typeface="Calibri (MS) Bold"/>
                <a:cs typeface="Times New Roman" panose="02020603050405020304" pitchFamily="18" charset="0"/>
                <a:sym typeface="Calibri (MS) Bold"/>
              </a:rPr>
              <a:t> </a:t>
            </a:r>
            <a:r>
              <a:rPr lang="en-US" b="1" dirty="0">
                <a:latin typeface="Times New Roman" panose="02020603050405020304" pitchFamily="18" charset="0"/>
                <a:ea typeface="Calibri (MS) Bold"/>
                <a:cs typeface="Times New Roman" panose="02020603050405020304" pitchFamily="18" charset="0"/>
                <a:sym typeface="Calibri (MS) Bold"/>
              </a:rPr>
              <a:t>Discussion &amp; Milestones Achieved</a:t>
            </a:r>
          </a:p>
          <a:p>
            <a:pPr algn="l">
              <a:lnSpc>
                <a:spcPts val="3600"/>
              </a:lnSpc>
            </a:pPr>
            <a:r>
              <a:rPr lang="en-US" b="1" dirty="0">
                <a:latin typeface="Times New Roman" panose="02020603050405020304" pitchFamily="18" charset="0"/>
                <a:ea typeface="Calibri (MS) Bold"/>
                <a:cs typeface="Times New Roman" panose="02020603050405020304" pitchFamily="18" charset="0"/>
                <a:sym typeface="Calibri (MS) Bold"/>
              </a:rPr>
              <a:t>Overview:</a:t>
            </a:r>
          </a:p>
          <a:p>
            <a:pPr algn="l">
              <a:lnSpc>
                <a:spcPts val="3600"/>
              </a:lnSpc>
            </a:pPr>
            <a:r>
              <a:rPr lang="en-US" dirty="0">
                <a:latin typeface="Times New Roman" panose="02020603050405020304" pitchFamily="18" charset="0"/>
                <a:ea typeface="Calibri (MS)"/>
                <a:cs typeface="Times New Roman" panose="02020603050405020304" pitchFamily="18" charset="0"/>
                <a:sym typeface="Calibri (MS)"/>
              </a:rPr>
              <a:t>Leveraging advanced </a:t>
            </a:r>
            <a:r>
              <a:rPr lang="en-US" b="1" dirty="0">
                <a:latin typeface="Times New Roman" panose="02020603050405020304" pitchFamily="18" charset="0"/>
                <a:ea typeface="Calibri (MS) Bold"/>
                <a:cs typeface="Times New Roman" panose="02020603050405020304" pitchFamily="18" charset="0"/>
                <a:sym typeface="Calibri (MS) Bold"/>
              </a:rPr>
              <a:t>face recognition</a:t>
            </a:r>
            <a:r>
              <a:rPr lang="en-US" dirty="0">
                <a:latin typeface="Times New Roman" panose="02020603050405020304" pitchFamily="18" charset="0"/>
                <a:ea typeface="Calibri (MS)"/>
                <a:cs typeface="Times New Roman" panose="02020603050405020304" pitchFamily="18" charset="0"/>
                <a:sym typeface="Calibri (MS)"/>
              </a:rPr>
              <a:t> and </a:t>
            </a:r>
            <a:r>
              <a:rPr lang="en-US" b="1" dirty="0">
                <a:latin typeface="Times New Roman" panose="02020603050405020304" pitchFamily="18" charset="0"/>
                <a:ea typeface="Calibri (MS) Bold"/>
                <a:cs typeface="Times New Roman" panose="02020603050405020304" pitchFamily="18" charset="0"/>
                <a:sym typeface="Calibri (MS) Bold"/>
              </a:rPr>
              <a:t>video processing</a:t>
            </a:r>
            <a:r>
              <a:rPr lang="en-US" dirty="0">
                <a:latin typeface="Times New Roman" panose="02020603050405020304" pitchFamily="18" charset="0"/>
                <a:ea typeface="Calibri (MS)"/>
                <a:cs typeface="Times New Roman" panose="02020603050405020304" pitchFamily="18" charset="0"/>
                <a:sym typeface="Calibri (MS)"/>
              </a:rPr>
              <a:t> technologies to monitor and enhance classroom engagement effectively.</a:t>
            </a:r>
          </a:p>
          <a:p>
            <a:pPr algn="l">
              <a:lnSpc>
                <a:spcPts val="3600"/>
              </a:lnSpc>
            </a:pPr>
            <a:r>
              <a:rPr lang="en-US" b="1" dirty="0">
                <a:latin typeface="Times New Roman" panose="02020603050405020304" pitchFamily="18" charset="0"/>
                <a:ea typeface="Calibri (MS) Bold"/>
                <a:cs typeface="Times New Roman" panose="02020603050405020304" pitchFamily="18" charset="0"/>
                <a:sym typeface="Calibri (MS) Bold"/>
              </a:rPr>
              <a:t>Technical Milestones:</a:t>
            </a:r>
          </a:p>
          <a:p>
            <a:pPr marL="511968" lvl="1" indent="-285750" algn="l">
              <a:lnSpc>
                <a:spcPts val="3600"/>
              </a:lnSpc>
              <a:buFont typeface="Arial" panose="020B0604020202020204" pitchFamily="34" charset="0"/>
              <a:buChar char="•"/>
            </a:pPr>
            <a:r>
              <a:rPr lang="en-US" b="1" dirty="0">
                <a:latin typeface="Times New Roman" panose="02020603050405020304" pitchFamily="18" charset="0"/>
                <a:ea typeface="Calibri (MS) Bold"/>
                <a:cs typeface="Times New Roman" panose="02020603050405020304" pitchFamily="18" charset="0"/>
                <a:sym typeface="Calibri (MS) Bold"/>
              </a:rPr>
              <a:t>Real-Time Face Detection:</a:t>
            </a:r>
          </a:p>
          <a:p>
            <a:pPr marL="1023937" lvl="2" indent="-341312" algn="l">
              <a:lnSpc>
                <a:spcPts val="3600"/>
              </a:lnSpc>
              <a:buFont typeface="Arial" panose="020B0604020202020204" pitchFamily="34" charset="0"/>
              <a:buChar char="•"/>
            </a:pPr>
            <a:r>
              <a:rPr lang="en-US" dirty="0">
                <a:latin typeface="Times New Roman" panose="02020603050405020304" pitchFamily="18" charset="0"/>
                <a:ea typeface="Calibri (MS)"/>
                <a:cs typeface="Times New Roman" panose="02020603050405020304" pitchFamily="18" charset="0"/>
                <a:sym typeface="Calibri (MS)"/>
              </a:rPr>
              <a:t>Instantly identifies faces within the classroom.</a:t>
            </a:r>
          </a:p>
          <a:p>
            <a:pPr marL="511968" lvl="1" indent="-285750" algn="l">
              <a:lnSpc>
                <a:spcPts val="3600"/>
              </a:lnSpc>
              <a:buFont typeface="Arial" panose="020B0604020202020204" pitchFamily="34" charset="0"/>
              <a:buChar char="•"/>
            </a:pPr>
            <a:r>
              <a:rPr lang="en-US" b="1" dirty="0">
                <a:latin typeface="Times New Roman" panose="02020603050405020304" pitchFamily="18" charset="0"/>
                <a:ea typeface="Calibri (MS) Bold"/>
                <a:cs typeface="Times New Roman" panose="02020603050405020304" pitchFamily="18" charset="0"/>
                <a:sym typeface="Calibri (MS) Bold"/>
              </a:rPr>
              <a:t>Student Identification:</a:t>
            </a:r>
          </a:p>
          <a:p>
            <a:pPr marL="1023937" lvl="2" indent="-341312" algn="l">
              <a:lnSpc>
                <a:spcPts val="3600"/>
              </a:lnSpc>
              <a:buFont typeface="Arial" panose="020B0604020202020204" pitchFamily="34" charset="0"/>
              <a:buChar char="•"/>
            </a:pPr>
            <a:r>
              <a:rPr lang="en-US" dirty="0">
                <a:latin typeface="Times New Roman" panose="02020603050405020304" pitchFamily="18" charset="0"/>
                <a:ea typeface="Calibri (MS)"/>
                <a:cs typeface="Times New Roman" panose="02020603050405020304" pitchFamily="18" charset="0"/>
                <a:sym typeface="Calibri (MS)"/>
              </a:rPr>
              <a:t>Verifies registered students; flags unregistered individuals.</a:t>
            </a:r>
          </a:p>
          <a:p>
            <a:pPr marL="511968" lvl="1" indent="-285750" algn="l">
              <a:lnSpc>
                <a:spcPts val="3600"/>
              </a:lnSpc>
              <a:buFont typeface="Arial" panose="020B0604020202020204" pitchFamily="34" charset="0"/>
              <a:buChar char="•"/>
            </a:pPr>
            <a:r>
              <a:rPr lang="en-US" b="1" dirty="0">
                <a:latin typeface="Times New Roman" panose="02020603050405020304" pitchFamily="18" charset="0"/>
                <a:ea typeface="Calibri (MS) Bold"/>
                <a:cs typeface="Times New Roman" panose="02020603050405020304" pitchFamily="18" charset="0"/>
                <a:sym typeface="Calibri (MS) Bold"/>
              </a:rPr>
              <a:t>Multiple Face Tracking:</a:t>
            </a:r>
          </a:p>
          <a:p>
            <a:pPr marL="1023937" lvl="2" indent="-341312" algn="l">
              <a:lnSpc>
                <a:spcPts val="3600"/>
              </a:lnSpc>
              <a:buFont typeface="Arial" panose="020B0604020202020204" pitchFamily="34" charset="0"/>
              <a:buChar char="•"/>
            </a:pPr>
            <a:r>
              <a:rPr lang="en-US" dirty="0">
                <a:latin typeface="Times New Roman" panose="02020603050405020304" pitchFamily="18" charset="0"/>
                <a:ea typeface="Calibri (MS)"/>
                <a:cs typeface="Times New Roman" panose="02020603050405020304" pitchFamily="18" charset="0"/>
                <a:sym typeface="Calibri (MS)"/>
              </a:rPr>
              <a:t>Seamlessly tracks multiple students simultaneously.</a:t>
            </a:r>
          </a:p>
        </p:txBody>
      </p:sp>
    </p:spTree>
    <p:extLst>
      <p:ext uri="{BB962C8B-B14F-4D97-AF65-F5344CB8AC3E}">
        <p14:creationId xmlns:p14="http://schemas.microsoft.com/office/powerpoint/2010/main" val="2618487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CFD1FD6-45E6-A163-927E-59BD563C8473}"/>
              </a:ext>
            </a:extLst>
          </p:cNvPr>
          <p:cNvSpPr txBox="1"/>
          <p:nvPr/>
        </p:nvSpPr>
        <p:spPr>
          <a:xfrm>
            <a:off x="147484" y="1445342"/>
            <a:ext cx="8809703" cy="3722814"/>
          </a:xfrm>
          <a:prstGeom prst="rect">
            <a:avLst/>
          </a:prstGeom>
          <a:noFill/>
        </p:spPr>
        <p:txBody>
          <a:bodyPr wrap="square" rtlCol="0">
            <a:spAutoFit/>
          </a:bodyPr>
          <a:lstStyle/>
          <a:p>
            <a:pPr marL="511968" lvl="1" indent="-285750" algn="l">
              <a:lnSpc>
                <a:spcPts val="3600"/>
              </a:lnSpc>
              <a:buFont typeface="Arial" panose="020B0604020202020204" pitchFamily="34" charset="0"/>
              <a:buChar char="•"/>
            </a:pPr>
            <a:r>
              <a:rPr lang="en-US" b="1" dirty="0">
                <a:latin typeface="Times New Roman" panose="02020603050405020304" pitchFamily="18" charset="0"/>
                <a:ea typeface="Calibri (MS) Bold"/>
                <a:cs typeface="Times New Roman" panose="02020603050405020304" pitchFamily="18" charset="0"/>
                <a:sym typeface="Calibri (MS) Bold"/>
              </a:rPr>
              <a:t>Advanced Monitoring:</a:t>
            </a:r>
          </a:p>
          <a:p>
            <a:pPr marL="511968" lvl="1" indent="-285750" algn="l">
              <a:lnSpc>
                <a:spcPts val="3600"/>
              </a:lnSpc>
              <a:buFont typeface="Arial" panose="020B0604020202020204" pitchFamily="34" charset="0"/>
              <a:buChar char="•"/>
            </a:pPr>
            <a:r>
              <a:rPr lang="en-US" b="1" dirty="0">
                <a:latin typeface="Times New Roman" panose="02020603050405020304" pitchFamily="18" charset="0"/>
                <a:ea typeface="Calibri (MS) Bold"/>
                <a:cs typeface="Times New Roman" panose="02020603050405020304" pitchFamily="18" charset="0"/>
                <a:sym typeface="Calibri (MS) Bold"/>
              </a:rPr>
              <a:t>Incorporates eye movement analysis and motion detection for deeper engagement insights.</a:t>
            </a:r>
          </a:p>
          <a:p>
            <a:pPr marL="511968" lvl="1" indent="-285750" algn="l">
              <a:lnSpc>
                <a:spcPts val="3600"/>
              </a:lnSpc>
              <a:buFont typeface="Arial" panose="020B0604020202020204" pitchFamily="34" charset="0"/>
              <a:buChar char="•"/>
            </a:pPr>
            <a:r>
              <a:rPr lang="en-US" b="1" dirty="0">
                <a:latin typeface="Times New Roman" panose="02020603050405020304" pitchFamily="18" charset="0"/>
                <a:ea typeface="Calibri (MS) Bold"/>
                <a:cs typeface="Times New Roman" panose="02020603050405020304" pitchFamily="18" charset="0"/>
                <a:sym typeface="Calibri (MS) Bold"/>
              </a:rPr>
              <a:t>Data Management:</a:t>
            </a:r>
          </a:p>
          <a:p>
            <a:pPr marL="511968" lvl="1" indent="-285750" algn="l">
              <a:lnSpc>
                <a:spcPts val="3600"/>
              </a:lnSpc>
              <a:buFont typeface="Arial" panose="020B0604020202020204" pitchFamily="34" charset="0"/>
              <a:buChar char="•"/>
            </a:pPr>
            <a:r>
              <a:rPr lang="en-US" b="1" dirty="0">
                <a:latin typeface="Times New Roman" panose="02020603050405020304" pitchFamily="18" charset="0"/>
                <a:ea typeface="Calibri (MS) Bold"/>
                <a:cs typeface="Times New Roman" panose="02020603050405020304" pitchFamily="18" charset="0"/>
                <a:sym typeface="Calibri (MS) Bold"/>
              </a:rPr>
              <a:t>Captures snapshots and stores attendance data in screenshots and Excel sheets for easy analysis and reporting.</a:t>
            </a:r>
          </a:p>
          <a:p>
            <a:pPr marL="511968" lvl="1" indent="-285750" algn="l">
              <a:lnSpc>
                <a:spcPts val="3600"/>
              </a:lnSpc>
              <a:buFont typeface="Arial" panose="020B0604020202020204" pitchFamily="34" charset="0"/>
              <a:buChar char="•"/>
            </a:pPr>
            <a:r>
              <a:rPr lang="en-US" b="1" dirty="0">
                <a:latin typeface="Times New Roman" panose="02020603050405020304" pitchFamily="18" charset="0"/>
                <a:ea typeface="Calibri (MS) Bold"/>
                <a:cs typeface="Times New Roman" panose="02020603050405020304" pitchFamily="18" charset="0"/>
                <a:sym typeface="Calibri (MS) Bold"/>
              </a:rPr>
              <a:t>These milestones reflect significant progress in developing a system that ensures precision, scalability, and actionable insights for educators.</a:t>
            </a:r>
          </a:p>
        </p:txBody>
      </p:sp>
    </p:spTree>
    <p:extLst>
      <p:ext uri="{BB962C8B-B14F-4D97-AF65-F5344CB8AC3E}">
        <p14:creationId xmlns:p14="http://schemas.microsoft.com/office/powerpoint/2010/main" val="40205935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6F7E515-6D4D-76C4-9E3C-CD7AE87847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988" y="2051244"/>
            <a:ext cx="8888360" cy="4250012"/>
          </a:xfrm>
          <a:prstGeom prst="rect">
            <a:avLst/>
          </a:prstGeom>
        </p:spPr>
      </p:pic>
      <p:sp>
        <p:nvSpPr>
          <p:cNvPr id="4" name="TextBox 3">
            <a:extLst>
              <a:ext uri="{FF2B5EF4-FFF2-40B4-BE49-F238E27FC236}">
                <a16:creationId xmlns:a16="http://schemas.microsoft.com/office/drawing/2014/main" id="{5CFF9809-3167-2C22-6F52-763A3FBE1AA0}"/>
              </a:ext>
            </a:extLst>
          </p:cNvPr>
          <p:cNvSpPr txBox="1"/>
          <p:nvPr/>
        </p:nvSpPr>
        <p:spPr>
          <a:xfrm>
            <a:off x="668594" y="1081548"/>
            <a:ext cx="4513006" cy="584775"/>
          </a:xfrm>
          <a:prstGeom prst="rect">
            <a:avLst/>
          </a:prstGeom>
          <a:noFill/>
        </p:spPr>
        <p:txBody>
          <a:bodyPr wrap="square" rtlCol="0">
            <a:spAutoFit/>
          </a:bodyPr>
          <a:lstStyle/>
          <a:p>
            <a:r>
              <a:rPr lang="en-IN" sz="3200" b="1" dirty="0"/>
              <a:t>Screenshot :</a:t>
            </a:r>
          </a:p>
        </p:txBody>
      </p:sp>
    </p:spTree>
    <p:extLst>
      <p:ext uri="{BB962C8B-B14F-4D97-AF65-F5344CB8AC3E}">
        <p14:creationId xmlns:p14="http://schemas.microsoft.com/office/powerpoint/2010/main" val="38061880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Group 6">
            <a:extLst>
              <a:ext uri="{FF2B5EF4-FFF2-40B4-BE49-F238E27FC236}">
                <a16:creationId xmlns:a16="http://schemas.microsoft.com/office/drawing/2014/main" id="{359E4525-062A-BDEF-2118-1D6F08B181DE}"/>
              </a:ext>
            </a:extLst>
          </p:cNvPr>
          <p:cNvGrpSpPr/>
          <p:nvPr/>
        </p:nvGrpSpPr>
        <p:grpSpPr>
          <a:xfrm>
            <a:off x="-1619254" y="899618"/>
            <a:ext cx="10763254" cy="1093529"/>
            <a:chOff x="-6185894" y="253478"/>
            <a:chExt cx="13522722" cy="1237583"/>
          </a:xfrm>
        </p:grpSpPr>
        <p:sp>
          <p:nvSpPr>
            <p:cNvPr id="38" name="Freeform 7">
              <a:extLst>
                <a:ext uri="{FF2B5EF4-FFF2-40B4-BE49-F238E27FC236}">
                  <a16:creationId xmlns:a16="http://schemas.microsoft.com/office/drawing/2014/main" id="{D126E64D-AEB8-BC0F-1D49-1AFF959FFDB0}"/>
                </a:ext>
              </a:extLst>
            </p:cNvPr>
            <p:cNvSpPr/>
            <p:nvPr/>
          </p:nvSpPr>
          <p:spPr>
            <a:xfrm>
              <a:off x="-6185894" y="317699"/>
              <a:ext cx="13522722" cy="1173362"/>
            </a:xfrm>
            <a:custGeom>
              <a:avLst/>
              <a:gdLst/>
              <a:ahLst/>
              <a:cxnLst/>
              <a:rect l="l" t="t" r="r" b="b"/>
              <a:pathLst>
                <a:path w="13522722" h="1173362">
                  <a:moveTo>
                    <a:pt x="0" y="0"/>
                  </a:moveTo>
                  <a:lnTo>
                    <a:pt x="13522722" y="0"/>
                  </a:lnTo>
                  <a:lnTo>
                    <a:pt x="13522722" y="1173362"/>
                  </a:lnTo>
                  <a:lnTo>
                    <a:pt x="0" y="1173362"/>
                  </a:lnTo>
                  <a:close/>
                </a:path>
              </a:pathLst>
            </a:custGeom>
            <a:solidFill>
              <a:srgbClr val="000000">
                <a:alpha val="0"/>
              </a:srgbClr>
            </a:solidFill>
          </p:spPr>
        </p:sp>
        <p:sp>
          <p:nvSpPr>
            <p:cNvPr id="39" name="TextBox 8">
              <a:extLst>
                <a:ext uri="{FF2B5EF4-FFF2-40B4-BE49-F238E27FC236}">
                  <a16:creationId xmlns:a16="http://schemas.microsoft.com/office/drawing/2014/main" id="{C90891B4-C476-24F7-F2E6-40A6BA49BA9B}"/>
                </a:ext>
              </a:extLst>
            </p:cNvPr>
            <p:cNvSpPr txBox="1"/>
            <p:nvPr/>
          </p:nvSpPr>
          <p:spPr>
            <a:xfrm>
              <a:off x="-2242269" y="253478"/>
              <a:ext cx="9263475" cy="919884"/>
            </a:xfrm>
            <a:prstGeom prst="rect">
              <a:avLst/>
            </a:prstGeom>
          </p:spPr>
          <p:txBody>
            <a:bodyPr lIns="0" tIns="0" rIns="0" bIns="0" rtlCol="0" anchor="t"/>
            <a:lstStyle/>
            <a:p>
              <a:pPr algn="l">
                <a:lnSpc>
                  <a:spcPts val="6875"/>
                </a:lnSpc>
              </a:pPr>
              <a:r>
                <a:rPr lang="en-US" sz="3200" dirty="0">
                  <a:latin typeface="Times New Roman" panose="02020603050405020304" pitchFamily="18" charset="0"/>
                  <a:ea typeface="Microsoft Sans Serif" panose="020B0604020202020204" pitchFamily="34" charset="0"/>
                  <a:cs typeface="Times New Roman" panose="02020603050405020304" pitchFamily="18" charset="0"/>
                  <a:sym typeface="Quattrocento"/>
                </a:rPr>
                <a:t>Key Learnings and Future Scope</a:t>
              </a:r>
            </a:p>
          </p:txBody>
        </p:sp>
      </p:grpSp>
      <p:grpSp>
        <p:nvGrpSpPr>
          <p:cNvPr id="42" name="Group 11">
            <a:extLst>
              <a:ext uri="{FF2B5EF4-FFF2-40B4-BE49-F238E27FC236}">
                <a16:creationId xmlns:a16="http://schemas.microsoft.com/office/drawing/2014/main" id="{0141F2AD-D2D7-FFA3-C439-E3DA96A03951}"/>
              </a:ext>
            </a:extLst>
          </p:cNvPr>
          <p:cNvGrpSpPr/>
          <p:nvPr/>
        </p:nvGrpSpPr>
        <p:grpSpPr>
          <a:xfrm>
            <a:off x="373021" y="2426522"/>
            <a:ext cx="599885" cy="653047"/>
            <a:chOff x="-683899" y="-469645"/>
            <a:chExt cx="860509" cy="1267363"/>
          </a:xfrm>
          <a:solidFill>
            <a:schemeClr val="tx1">
              <a:lumMod val="75000"/>
              <a:lumOff val="25000"/>
            </a:schemeClr>
          </a:solidFill>
        </p:grpSpPr>
        <p:sp>
          <p:nvSpPr>
            <p:cNvPr id="43" name="Freeform 12">
              <a:extLst>
                <a:ext uri="{FF2B5EF4-FFF2-40B4-BE49-F238E27FC236}">
                  <a16:creationId xmlns:a16="http://schemas.microsoft.com/office/drawing/2014/main" id="{B1E4752E-644F-E2D7-48C9-841BAB124C73}"/>
                </a:ext>
              </a:extLst>
            </p:cNvPr>
            <p:cNvSpPr/>
            <p:nvPr/>
          </p:nvSpPr>
          <p:spPr>
            <a:xfrm>
              <a:off x="0" y="0"/>
              <a:ext cx="176610" cy="797718"/>
            </a:xfrm>
            <a:custGeom>
              <a:avLst/>
              <a:gdLst/>
              <a:ahLst/>
              <a:cxnLst/>
              <a:rect l="l" t="t" r="r" b="b"/>
              <a:pathLst>
                <a:path w="176610" h="797718">
                  <a:moveTo>
                    <a:pt x="0" y="0"/>
                  </a:moveTo>
                  <a:lnTo>
                    <a:pt x="176610" y="0"/>
                  </a:lnTo>
                  <a:lnTo>
                    <a:pt x="176610" y="797718"/>
                  </a:lnTo>
                  <a:lnTo>
                    <a:pt x="0" y="797718"/>
                  </a:lnTo>
                  <a:close/>
                </a:path>
              </a:pathLst>
            </a:custGeom>
            <a:grpFill/>
          </p:spPr>
        </p:sp>
        <p:sp>
          <p:nvSpPr>
            <p:cNvPr id="44" name="TextBox 13">
              <a:extLst>
                <a:ext uri="{FF2B5EF4-FFF2-40B4-BE49-F238E27FC236}">
                  <a16:creationId xmlns:a16="http://schemas.microsoft.com/office/drawing/2014/main" id="{B4BEF903-335A-1D3A-9BAB-50FAFA7A0C32}"/>
                </a:ext>
              </a:extLst>
            </p:cNvPr>
            <p:cNvSpPr txBox="1"/>
            <p:nvPr/>
          </p:nvSpPr>
          <p:spPr>
            <a:xfrm>
              <a:off x="-683899" y="-469645"/>
              <a:ext cx="860509" cy="1267363"/>
            </a:xfrm>
            <a:prstGeom prst="rect">
              <a:avLst/>
            </a:prstGeom>
            <a:grpFill/>
          </p:spPr>
          <p:txBody>
            <a:bodyPr lIns="0" tIns="0" rIns="0" bIns="0" rtlCol="0" anchor="t"/>
            <a:lstStyle/>
            <a:p>
              <a:pPr algn="ctr">
                <a:lnSpc>
                  <a:spcPts val="4687"/>
                </a:lnSpc>
              </a:pPr>
              <a:r>
                <a:rPr lang="en-US" sz="2937" dirty="0">
                  <a:solidFill>
                    <a:srgbClr val="F9EEE7"/>
                  </a:solidFill>
                  <a:latin typeface="Quattrocento"/>
                  <a:ea typeface="Quattrocento"/>
                  <a:cs typeface="Quattrocento"/>
                  <a:sym typeface="Quattrocento"/>
                </a:rPr>
                <a:t>1</a:t>
              </a:r>
            </a:p>
          </p:txBody>
        </p:sp>
      </p:grpSp>
      <p:grpSp>
        <p:nvGrpSpPr>
          <p:cNvPr id="45" name="Group 14">
            <a:extLst>
              <a:ext uri="{FF2B5EF4-FFF2-40B4-BE49-F238E27FC236}">
                <a16:creationId xmlns:a16="http://schemas.microsoft.com/office/drawing/2014/main" id="{72D3EAE1-C0D2-3552-781E-4B987EBD0246}"/>
              </a:ext>
            </a:extLst>
          </p:cNvPr>
          <p:cNvGrpSpPr/>
          <p:nvPr/>
        </p:nvGrpSpPr>
        <p:grpSpPr>
          <a:xfrm>
            <a:off x="1703286" y="1861243"/>
            <a:ext cx="5065061" cy="898636"/>
            <a:chOff x="-2059774" y="0"/>
            <a:chExt cx="6753416" cy="1198182"/>
          </a:xfrm>
        </p:grpSpPr>
        <p:sp>
          <p:nvSpPr>
            <p:cNvPr id="46" name="Freeform 15">
              <a:extLst>
                <a:ext uri="{FF2B5EF4-FFF2-40B4-BE49-F238E27FC236}">
                  <a16:creationId xmlns:a16="http://schemas.microsoft.com/office/drawing/2014/main" id="{40ED12D7-0C82-5C86-34CB-7454F5F1E157}"/>
                </a:ext>
              </a:extLst>
            </p:cNvPr>
            <p:cNvSpPr/>
            <p:nvPr/>
          </p:nvSpPr>
          <p:spPr>
            <a:xfrm>
              <a:off x="0" y="0"/>
              <a:ext cx="4693642" cy="586582"/>
            </a:xfrm>
            <a:custGeom>
              <a:avLst/>
              <a:gdLst/>
              <a:ahLst/>
              <a:cxnLst/>
              <a:rect l="l" t="t" r="r" b="b"/>
              <a:pathLst>
                <a:path w="4693642" h="586582">
                  <a:moveTo>
                    <a:pt x="0" y="0"/>
                  </a:moveTo>
                  <a:lnTo>
                    <a:pt x="4693642" y="0"/>
                  </a:lnTo>
                  <a:lnTo>
                    <a:pt x="4693642" y="586582"/>
                  </a:lnTo>
                  <a:lnTo>
                    <a:pt x="0" y="586582"/>
                  </a:lnTo>
                  <a:close/>
                </a:path>
              </a:pathLst>
            </a:custGeom>
            <a:solidFill>
              <a:srgbClr val="000000">
                <a:alpha val="0"/>
              </a:srgbClr>
            </a:solidFill>
          </p:spPr>
        </p:sp>
        <p:sp>
          <p:nvSpPr>
            <p:cNvPr id="47" name="TextBox 16">
              <a:extLst>
                <a:ext uri="{FF2B5EF4-FFF2-40B4-BE49-F238E27FC236}">
                  <a16:creationId xmlns:a16="http://schemas.microsoft.com/office/drawing/2014/main" id="{4A293026-E61D-E196-74ED-6DDF760F99B1}"/>
                </a:ext>
              </a:extLst>
            </p:cNvPr>
            <p:cNvSpPr txBox="1"/>
            <p:nvPr/>
          </p:nvSpPr>
          <p:spPr>
            <a:xfrm>
              <a:off x="-2059774" y="592551"/>
              <a:ext cx="4693642" cy="605631"/>
            </a:xfrm>
            <a:prstGeom prst="rect">
              <a:avLst/>
            </a:prstGeom>
          </p:spPr>
          <p:txBody>
            <a:bodyPr lIns="0" tIns="0" rIns="0" bIns="0" rtlCol="0" anchor="t"/>
            <a:lstStyle/>
            <a:p>
              <a:pPr algn="l">
                <a:lnSpc>
                  <a:spcPts val="3437"/>
                </a:lnSpc>
              </a:pPr>
              <a:r>
                <a:rPr lang="en-US" sz="1600" b="1" dirty="0">
                  <a:latin typeface="Times New Roman" panose="02020603050405020304" pitchFamily="18" charset="0"/>
                  <a:ea typeface="Quattrocento"/>
                  <a:cs typeface="Times New Roman" panose="02020603050405020304" pitchFamily="18" charset="0"/>
                  <a:sym typeface="Quattrocento"/>
                </a:rPr>
                <a:t>AI Applications</a:t>
              </a:r>
            </a:p>
          </p:txBody>
        </p:sp>
      </p:grpSp>
      <p:grpSp>
        <p:nvGrpSpPr>
          <p:cNvPr id="48" name="Group 17">
            <a:extLst>
              <a:ext uri="{FF2B5EF4-FFF2-40B4-BE49-F238E27FC236}">
                <a16:creationId xmlns:a16="http://schemas.microsoft.com/office/drawing/2014/main" id="{5B3B37C3-67ED-8C4D-3E07-20CD1D8E9394}"/>
              </a:ext>
            </a:extLst>
          </p:cNvPr>
          <p:cNvGrpSpPr/>
          <p:nvPr/>
        </p:nvGrpSpPr>
        <p:grpSpPr>
          <a:xfrm>
            <a:off x="1703286" y="2609632"/>
            <a:ext cx="9499974" cy="1092132"/>
            <a:chOff x="-254168" y="-817802"/>
            <a:chExt cx="12666631" cy="1456175"/>
          </a:xfrm>
        </p:grpSpPr>
        <p:sp>
          <p:nvSpPr>
            <p:cNvPr id="49" name="Freeform 18">
              <a:extLst>
                <a:ext uri="{FF2B5EF4-FFF2-40B4-BE49-F238E27FC236}">
                  <a16:creationId xmlns:a16="http://schemas.microsoft.com/office/drawing/2014/main" id="{B73BAA0C-A21D-44D5-72D1-570767A8B522}"/>
                </a:ext>
              </a:extLst>
            </p:cNvPr>
            <p:cNvSpPr/>
            <p:nvPr/>
          </p:nvSpPr>
          <p:spPr>
            <a:xfrm>
              <a:off x="0" y="0"/>
              <a:ext cx="12412463" cy="638373"/>
            </a:xfrm>
            <a:custGeom>
              <a:avLst/>
              <a:gdLst/>
              <a:ahLst/>
              <a:cxnLst/>
              <a:rect l="l" t="t" r="r" b="b"/>
              <a:pathLst>
                <a:path w="12412463" h="638373">
                  <a:moveTo>
                    <a:pt x="0" y="0"/>
                  </a:moveTo>
                  <a:lnTo>
                    <a:pt x="12412463" y="0"/>
                  </a:lnTo>
                  <a:lnTo>
                    <a:pt x="12412463" y="638373"/>
                  </a:lnTo>
                  <a:lnTo>
                    <a:pt x="0" y="638373"/>
                  </a:lnTo>
                  <a:close/>
                </a:path>
              </a:pathLst>
            </a:custGeom>
            <a:solidFill>
              <a:srgbClr val="000000">
                <a:alpha val="0"/>
              </a:srgbClr>
            </a:solidFill>
          </p:spPr>
        </p:sp>
        <p:sp>
          <p:nvSpPr>
            <p:cNvPr id="50" name="TextBox 19">
              <a:extLst>
                <a:ext uri="{FF2B5EF4-FFF2-40B4-BE49-F238E27FC236}">
                  <a16:creationId xmlns:a16="http://schemas.microsoft.com/office/drawing/2014/main" id="{E52A2451-246B-B358-84F0-DC531459D357}"/>
                </a:ext>
              </a:extLst>
            </p:cNvPr>
            <p:cNvSpPr txBox="1"/>
            <p:nvPr/>
          </p:nvSpPr>
          <p:spPr>
            <a:xfrm>
              <a:off x="-254168" y="-817802"/>
              <a:ext cx="12412463" cy="733624"/>
            </a:xfrm>
            <a:prstGeom prst="rect">
              <a:avLst/>
            </a:prstGeom>
          </p:spPr>
          <p:txBody>
            <a:bodyPr lIns="0" tIns="0" rIns="0" bIns="0" rtlCol="0" anchor="t"/>
            <a:lstStyle/>
            <a:p>
              <a:pPr algn="l">
                <a:lnSpc>
                  <a:spcPts val="3750"/>
                </a:lnSpc>
              </a:pPr>
              <a:r>
                <a:rPr lang="en-US" sz="1600" dirty="0">
                  <a:latin typeface="Times New Roman" panose="02020603050405020304" pitchFamily="18" charset="0"/>
                  <a:ea typeface="Quattrocento"/>
                  <a:cs typeface="Times New Roman" panose="02020603050405020304" pitchFamily="18" charset="0"/>
                  <a:sym typeface="Quattrocento"/>
                </a:rPr>
                <a:t>This Project deepened our understanding of AI's role in education.</a:t>
              </a:r>
            </a:p>
          </p:txBody>
        </p:sp>
      </p:grpSp>
      <p:grpSp>
        <p:nvGrpSpPr>
          <p:cNvPr id="55" name="Group 24">
            <a:extLst>
              <a:ext uri="{FF2B5EF4-FFF2-40B4-BE49-F238E27FC236}">
                <a16:creationId xmlns:a16="http://schemas.microsoft.com/office/drawing/2014/main" id="{5F3477B2-C5C6-8BBC-716A-8EEA41DBF365}"/>
              </a:ext>
            </a:extLst>
          </p:cNvPr>
          <p:cNvGrpSpPr/>
          <p:nvPr/>
        </p:nvGrpSpPr>
        <p:grpSpPr>
          <a:xfrm>
            <a:off x="364709" y="3726092"/>
            <a:ext cx="599885" cy="691158"/>
            <a:chOff x="0" y="-797997"/>
            <a:chExt cx="330530" cy="1595715"/>
          </a:xfrm>
        </p:grpSpPr>
        <p:sp>
          <p:nvSpPr>
            <p:cNvPr id="56" name="Freeform 25">
              <a:extLst>
                <a:ext uri="{FF2B5EF4-FFF2-40B4-BE49-F238E27FC236}">
                  <a16:creationId xmlns:a16="http://schemas.microsoft.com/office/drawing/2014/main" id="{2566D020-3B26-0AEC-2528-34EA25853C66}"/>
                </a:ext>
              </a:extLst>
            </p:cNvPr>
            <p:cNvSpPr/>
            <p:nvPr/>
          </p:nvSpPr>
          <p:spPr>
            <a:xfrm>
              <a:off x="0" y="0"/>
              <a:ext cx="267295" cy="797718"/>
            </a:xfrm>
            <a:custGeom>
              <a:avLst/>
              <a:gdLst/>
              <a:ahLst/>
              <a:cxnLst/>
              <a:rect l="l" t="t" r="r" b="b"/>
              <a:pathLst>
                <a:path w="267295" h="797718">
                  <a:moveTo>
                    <a:pt x="0" y="0"/>
                  </a:moveTo>
                  <a:lnTo>
                    <a:pt x="267295" y="0"/>
                  </a:lnTo>
                  <a:lnTo>
                    <a:pt x="267295" y="797718"/>
                  </a:lnTo>
                  <a:lnTo>
                    <a:pt x="0" y="797718"/>
                  </a:lnTo>
                  <a:close/>
                </a:path>
              </a:pathLst>
            </a:custGeom>
            <a:solidFill>
              <a:srgbClr val="000000">
                <a:alpha val="0"/>
              </a:srgbClr>
            </a:solidFill>
          </p:spPr>
        </p:sp>
        <p:sp>
          <p:nvSpPr>
            <p:cNvPr id="57" name="TextBox 26">
              <a:extLst>
                <a:ext uri="{FF2B5EF4-FFF2-40B4-BE49-F238E27FC236}">
                  <a16:creationId xmlns:a16="http://schemas.microsoft.com/office/drawing/2014/main" id="{A127E1CC-00CE-15AE-96EE-769773CEABDB}"/>
                </a:ext>
              </a:extLst>
            </p:cNvPr>
            <p:cNvSpPr txBox="1"/>
            <p:nvPr/>
          </p:nvSpPr>
          <p:spPr>
            <a:xfrm>
              <a:off x="0" y="-797997"/>
              <a:ext cx="330530" cy="1517356"/>
            </a:xfrm>
            <a:prstGeom prst="rect">
              <a:avLst/>
            </a:prstGeom>
            <a:solidFill>
              <a:schemeClr val="tx1"/>
            </a:solidFill>
          </p:spPr>
          <p:txBody>
            <a:bodyPr lIns="0" tIns="0" rIns="0" bIns="0" rtlCol="0" anchor="t"/>
            <a:lstStyle/>
            <a:p>
              <a:pPr algn="ctr">
                <a:lnSpc>
                  <a:spcPts val="4687"/>
                </a:lnSpc>
              </a:pPr>
              <a:r>
                <a:rPr lang="en-US" sz="2937" dirty="0">
                  <a:solidFill>
                    <a:srgbClr val="F9EEE7"/>
                  </a:solidFill>
                  <a:latin typeface="Quattrocento"/>
                  <a:ea typeface="Quattrocento"/>
                  <a:cs typeface="Quattrocento"/>
                  <a:sym typeface="Quattrocento"/>
                </a:rPr>
                <a:t>2</a:t>
              </a:r>
            </a:p>
          </p:txBody>
        </p:sp>
      </p:grpSp>
      <p:grpSp>
        <p:nvGrpSpPr>
          <p:cNvPr id="58" name="Group 27">
            <a:extLst>
              <a:ext uri="{FF2B5EF4-FFF2-40B4-BE49-F238E27FC236}">
                <a16:creationId xmlns:a16="http://schemas.microsoft.com/office/drawing/2014/main" id="{CE5E7287-A7FB-5A12-D476-FF019FCAD281}"/>
              </a:ext>
            </a:extLst>
          </p:cNvPr>
          <p:cNvGrpSpPr/>
          <p:nvPr/>
        </p:nvGrpSpPr>
        <p:grpSpPr>
          <a:xfrm>
            <a:off x="1744504" y="3498981"/>
            <a:ext cx="7034787" cy="1795729"/>
            <a:chOff x="-6666190" y="-1807726"/>
            <a:chExt cx="12884825" cy="2394308"/>
          </a:xfrm>
        </p:grpSpPr>
        <p:sp>
          <p:nvSpPr>
            <p:cNvPr id="59" name="Freeform 28">
              <a:extLst>
                <a:ext uri="{FF2B5EF4-FFF2-40B4-BE49-F238E27FC236}">
                  <a16:creationId xmlns:a16="http://schemas.microsoft.com/office/drawing/2014/main" id="{B283919F-B970-CF2E-D20E-2A5F71DB71F6}"/>
                </a:ext>
              </a:extLst>
            </p:cNvPr>
            <p:cNvSpPr/>
            <p:nvPr/>
          </p:nvSpPr>
          <p:spPr>
            <a:xfrm>
              <a:off x="0" y="0"/>
              <a:ext cx="6218635" cy="586582"/>
            </a:xfrm>
            <a:custGeom>
              <a:avLst/>
              <a:gdLst/>
              <a:ahLst/>
              <a:cxnLst/>
              <a:rect l="l" t="t" r="r" b="b"/>
              <a:pathLst>
                <a:path w="6218635" h="586582">
                  <a:moveTo>
                    <a:pt x="0" y="0"/>
                  </a:moveTo>
                  <a:lnTo>
                    <a:pt x="6218635" y="0"/>
                  </a:lnTo>
                  <a:lnTo>
                    <a:pt x="6218635" y="586582"/>
                  </a:lnTo>
                  <a:lnTo>
                    <a:pt x="0" y="586582"/>
                  </a:lnTo>
                  <a:close/>
                </a:path>
              </a:pathLst>
            </a:custGeom>
            <a:solidFill>
              <a:srgbClr val="000000">
                <a:alpha val="0"/>
              </a:srgbClr>
            </a:solidFill>
          </p:spPr>
        </p:sp>
        <p:sp>
          <p:nvSpPr>
            <p:cNvPr id="60" name="TextBox 29">
              <a:extLst>
                <a:ext uri="{FF2B5EF4-FFF2-40B4-BE49-F238E27FC236}">
                  <a16:creationId xmlns:a16="http://schemas.microsoft.com/office/drawing/2014/main" id="{B1EE3A5C-91C2-FAF5-5104-80166E4F436F}"/>
                </a:ext>
              </a:extLst>
            </p:cNvPr>
            <p:cNvSpPr txBox="1"/>
            <p:nvPr/>
          </p:nvSpPr>
          <p:spPr>
            <a:xfrm>
              <a:off x="-6666190" y="-1807726"/>
              <a:ext cx="6218635" cy="605631"/>
            </a:xfrm>
            <a:prstGeom prst="rect">
              <a:avLst/>
            </a:prstGeom>
          </p:spPr>
          <p:txBody>
            <a:bodyPr lIns="0" tIns="0" rIns="0" bIns="0" rtlCol="0" anchor="t"/>
            <a:lstStyle/>
            <a:p>
              <a:pPr algn="l">
                <a:lnSpc>
                  <a:spcPts val="3437"/>
                </a:lnSpc>
              </a:pPr>
              <a:r>
                <a:rPr lang="en-US" sz="1600" b="1" dirty="0">
                  <a:latin typeface="Times New Roman" panose="02020603050405020304" pitchFamily="18" charset="0"/>
                  <a:ea typeface="Quattrocento"/>
                  <a:cs typeface="Times New Roman" panose="02020603050405020304" pitchFamily="18" charset="0"/>
                  <a:sym typeface="Quattrocento"/>
                </a:rPr>
                <a:t>Image Processing Techniques</a:t>
              </a:r>
            </a:p>
          </p:txBody>
        </p:sp>
      </p:grpSp>
      <p:grpSp>
        <p:nvGrpSpPr>
          <p:cNvPr id="61" name="Group 30">
            <a:extLst>
              <a:ext uri="{FF2B5EF4-FFF2-40B4-BE49-F238E27FC236}">
                <a16:creationId xmlns:a16="http://schemas.microsoft.com/office/drawing/2014/main" id="{73DF8910-2379-0352-1894-4BC86D94155D}"/>
              </a:ext>
            </a:extLst>
          </p:cNvPr>
          <p:cNvGrpSpPr/>
          <p:nvPr/>
        </p:nvGrpSpPr>
        <p:grpSpPr>
          <a:xfrm>
            <a:off x="1744504" y="3953204"/>
            <a:ext cx="7261274" cy="2585486"/>
            <a:chOff x="-6666219" y="-2170568"/>
            <a:chExt cx="20262958" cy="3447315"/>
          </a:xfrm>
        </p:grpSpPr>
        <p:sp>
          <p:nvSpPr>
            <p:cNvPr id="62" name="Freeform 31">
              <a:extLst>
                <a:ext uri="{FF2B5EF4-FFF2-40B4-BE49-F238E27FC236}">
                  <a16:creationId xmlns:a16="http://schemas.microsoft.com/office/drawing/2014/main" id="{6BDE0D6F-E518-86BC-161A-357638201EFB}"/>
                </a:ext>
              </a:extLst>
            </p:cNvPr>
            <p:cNvSpPr/>
            <p:nvPr/>
          </p:nvSpPr>
          <p:spPr>
            <a:xfrm>
              <a:off x="0" y="0"/>
              <a:ext cx="13596739" cy="1276747"/>
            </a:xfrm>
            <a:custGeom>
              <a:avLst/>
              <a:gdLst/>
              <a:ahLst/>
              <a:cxnLst/>
              <a:rect l="l" t="t" r="r" b="b"/>
              <a:pathLst>
                <a:path w="13596739" h="1276747">
                  <a:moveTo>
                    <a:pt x="0" y="0"/>
                  </a:moveTo>
                  <a:lnTo>
                    <a:pt x="13596739" y="0"/>
                  </a:lnTo>
                  <a:lnTo>
                    <a:pt x="13596739" y="1276747"/>
                  </a:lnTo>
                  <a:lnTo>
                    <a:pt x="0" y="1276747"/>
                  </a:lnTo>
                  <a:close/>
                </a:path>
              </a:pathLst>
            </a:custGeom>
            <a:solidFill>
              <a:srgbClr val="000000">
                <a:alpha val="0"/>
              </a:srgbClr>
            </a:solidFill>
          </p:spPr>
        </p:sp>
        <p:sp>
          <p:nvSpPr>
            <p:cNvPr id="63" name="TextBox 32">
              <a:extLst>
                <a:ext uri="{FF2B5EF4-FFF2-40B4-BE49-F238E27FC236}">
                  <a16:creationId xmlns:a16="http://schemas.microsoft.com/office/drawing/2014/main" id="{828B6B30-70C3-D53F-CE35-31E606EEDA4B}"/>
                </a:ext>
              </a:extLst>
            </p:cNvPr>
            <p:cNvSpPr txBox="1"/>
            <p:nvPr/>
          </p:nvSpPr>
          <p:spPr>
            <a:xfrm>
              <a:off x="-6666219" y="-2170568"/>
              <a:ext cx="12407742" cy="1371996"/>
            </a:xfrm>
            <a:prstGeom prst="rect">
              <a:avLst/>
            </a:prstGeom>
          </p:spPr>
          <p:txBody>
            <a:bodyPr lIns="0" tIns="0" rIns="0" bIns="0" rtlCol="0" anchor="t"/>
            <a:lstStyle/>
            <a:p>
              <a:pPr algn="l">
                <a:lnSpc>
                  <a:spcPts val="3750"/>
                </a:lnSpc>
              </a:pPr>
              <a:r>
                <a:rPr lang="en-US" sz="1600" dirty="0">
                  <a:latin typeface="Times New Roman" panose="02020603050405020304" pitchFamily="18" charset="0"/>
                  <a:ea typeface="Quattrocento"/>
                  <a:cs typeface="Times New Roman" panose="02020603050405020304" pitchFamily="18" charset="0"/>
                  <a:sym typeface="Quattrocento"/>
                </a:rPr>
                <a:t>We gained hands-on experience with image processing techniques in a real-world setting.</a:t>
              </a:r>
            </a:p>
          </p:txBody>
        </p:sp>
      </p:grpSp>
      <p:grpSp>
        <p:nvGrpSpPr>
          <p:cNvPr id="68" name="Group 37">
            <a:extLst>
              <a:ext uri="{FF2B5EF4-FFF2-40B4-BE49-F238E27FC236}">
                <a16:creationId xmlns:a16="http://schemas.microsoft.com/office/drawing/2014/main" id="{204683CB-20FB-BEDA-596D-723C9AB6C92C}"/>
              </a:ext>
            </a:extLst>
          </p:cNvPr>
          <p:cNvGrpSpPr/>
          <p:nvPr/>
        </p:nvGrpSpPr>
        <p:grpSpPr>
          <a:xfrm>
            <a:off x="364709" y="5155176"/>
            <a:ext cx="599884" cy="725098"/>
            <a:chOff x="0" y="-169078"/>
            <a:chExt cx="799846" cy="966796"/>
          </a:xfrm>
        </p:grpSpPr>
        <p:sp>
          <p:nvSpPr>
            <p:cNvPr id="69" name="Freeform 38">
              <a:extLst>
                <a:ext uri="{FF2B5EF4-FFF2-40B4-BE49-F238E27FC236}">
                  <a16:creationId xmlns:a16="http://schemas.microsoft.com/office/drawing/2014/main" id="{EE689DF0-918D-C580-9CEF-D2DD66A11D1B}"/>
                </a:ext>
              </a:extLst>
            </p:cNvPr>
            <p:cNvSpPr/>
            <p:nvPr/>
          </p:nvSpPr>
          <p:spPr>
            <a:xfrm>
              <a:off x="0" y="0"/>
              <a:ext cx="271263" cy="797718"/>
            </a:xfrm>
            <a:custGeom>
              <a:avLst/>
              <a:gdLst/>
              <a:ahLst/>
              <a:cxnLst/>
              <a:rect l="l" t="t" r="r" b="b"/>
              <a:pathLst>
                <a:path w="271263" h="797718">
                  <a:moveTo>
                    <a:pt x="0" y="0"/>
                  </a:moveTo>
                  <a:lnTo>
                    <a:pt x="271263" y="0"/>
                  </a:lnTo>
                  <a:lnTo>
                    <a:pt x="271263" y="797718"/>
                  </a:lnTo>
                  <a:lnTo>
                    <a:pt x="0" y="797718"/>
                  </a:lnTo>
                  <a:close/>
                </a:path>
              </a:pathLst>
            </a:custGeom>
            <a:solidFill>
              <a:srgbClr val="000000">
                <a:alpha val="0"/>
              </a:srgbClr>
            </a:solidFill>
          </p:spPr>
        </p:sp>
        <p:sp>
          <p:nvSpPr>
            <p:cNvPr id="70" name="TextBox 39">
              <a:extLst>
                <a:ext uri="{FF2B5EF4-FFF2-40B4-BE49-F238E27FC236}">
                  <a16:creationId xmlns:a16="http://schemas.microsoft.com/office/drawing/2014/main" id="{6EB583AC-8D04-F808-EA6E-5062CA50AB96}"/>
                </a:ext>
              </a:extLst>
            </p:cNvPr>
            <p:cNvSpPr txBox="1"/>
            <p:nvPr/>
          </p:nvSpPr>
          <p:spPr>
            <a:xfrm>
              <a:off x="0" y="-169078"/>
              <a:ext cx="799846" cy="842971"/>
            </a:xfrm>
            <a:prstGeom prst="rect">
              <a:avLst/>
            </a:prstGeom>
            <a:solidFill>
              <a:schemeClr val="tx1"/>
            </a:solidFill>
          </p:spPr>
          <p:txBody>
            <a:bodyPr lIns="0" tIns="0" rIns="0" bIns="0" rtlCol="0" anchor="t"/>
            <a:lstStyle/>
            <a:p>
              <a:pPr algn="ctr">
                <a:lnSpc>
                  <a:spcPts val="4687"/>
                </a:lnSpc>
              </a:pPr>
              <a:r>
                <a:rPr lang="en-US" sz="2937" dirty="0">
                  <a:solidFill>
                    <a:srgbClr val="F9EEE7"/>
                  </a:solidFill>
                  <a:latin typeface="Quattrocento"/>
                  <a:ea typeface="Quattrocento"/>
                  <a:cs typeface="Quattrocento"/>
                  <a:sym typeface="Quattrocento"/>
                </a:rPr>
                <a:t>3</a:t>
              </a:r>
            </a:p>
          </p:txBody>
        </p:sp>
      </p:grpSp>
      <p:grpSp>
        <p:nvGrpSpPr>
          <p:cNvPr id="71" name="Group 40">
            <a:extLst>
              <a:ext uri="{FF2B5EF4-FFF2-40B4-BE49-F238E27FC236}">
                <a16:creationId xmlns:a16="http://schemas.microsoft.com/office/drawing/2014/main" id="{033FDBA0-5148-1C7C-F38F-7BFB0666FAA6}"/>
              </a:ext>
            </a:extLst>
          </p:cNvPr>
          <p:cNvGrpSpPr/>
          <p:nvPr/>
        </p:nvGrpSpPr>
        <p:grpSpPr>
          <a:xfrm>
            <a:off x="1703286" y="5041509"/>
            <a:ext cx="11260090" cy="2578044"/>
            <a:chOff x="-10319813" y="-2850815"/>
            <a:chExt cx="15013455" cy="3437397"/>
          </a:xfrm>
        </p:grpSpPr>
        <p:sp>
          <p:nvSpPr>
            <p:cNvPr id="72" name="Freeform 41">
              <a:extLst>
                <a:ext uri="{FF2B5EF4-FFF2-40B4-BE49-F238E27FC236}">
                  <a16:creationId xmlns:a16="http://schemas.microsoft.com/office/drawing/2014/main" id="{063D6FE1-13D1-7082-9688-F0CC8A661CCF}"/>
                </a:ext>
              </a:extLst>
            </p:cNvPr>
            <p:cNvSpPr/>
            <p:nvPr/>
          </p:nvSpPr>
          <p:spPr>
            <a:xfrm>
              <a:off x="0" y="0"/>
              <a:ext cx="4693642" cy="586582"/>
            </a:xfrm>
            <a:custGeom>
              <a:avLst/>
              <a:gdLst/>
              <a:ahLst/>
              <a:cxnLst/>
              <a:rect l="l" t="t" r="r" b="b"/>
              <a:pathLst>
                <a:path w="4693642" h="586582">
                  <a:moveTo>
                    <a:pt x="0" y="0"/>
                  </a:moveTo>
                  <a:lnTo>
                    <a:pt x="4693642" y="0"/>
                  </a:lnTo>
                  <a:lnTo>
                    <a:pt x="4693642" y="586582"/>
                  </a:lnTo>
                  <a:lnTo>
                    <a:pt x="0" y="586582"/>
                  </a:lnTo>
                  <a:close/>
                </a:path>
              </a:pathLst>
            </a:custGeom>
            <a:solidFill>
              <a:srgbClr val="000000">
                <a:alpha val="0"/>
              </a:srgbClr>
            </a:solidFill>
          </p:spPr>
        </p:sp>
        <p:sp>
          <p:nvSpPr>
            <p:cNvPr id="73" name="TextBox 42">
              <a:extLst>
                <a:ext uri="{FF2B5EF4-FFF2-40B4-BE49-F238E27FC236}">
                  <a16:creationId xmlns:a16="http://schemas.microsoft.com/office/drawing/2014/main" id="{B09CE440-114B-F51C-BB90-60EDBEF45FD0}"/>
                </a:ext>
              </a:extLst>
            </p:cNvPr>
            <p:cNvSpPr txBox="1"/>
            <p:nvPr/>
          </p:nvSpPr>
          <p:spPr>
            <a:xfrm>
              <a:off x="-10319813" y="-2850815"/>
              <a:ext cx="4693642" cy="605631"/>
            </a:xfrm>
            <a:prstGeom prst="rect">
              <a:avLst/>
            </a:prstGeom>
          </p:spPr>
          <p:txBody>
            <a:bodyPr lIns="0" tIns="0" rIns="0" bIns="0" rtlCol="0" anchor="t"/>
            <a:lstStyle/>
            <a:p>
              <a:pPr algn="l">
                <a:lnSpc>
                  <a:spcPts val="3437"/>
                </a:lnSpc>
              </a:pPr>
              <a:r>
                <a:rPr lang="en-US" sz="1600" b="1" dirty="0">
                  <a:latin typeface="Times New Roman" panose="02020603050405020304" pitchFamily="18" charset="0"/>
                  <a:ea typeface="Quattrocento"/>
                  <a:cs typeface="Times New Roman" panose="02020603050405020304" pitchFamily="18" charset="0"/>
                  <a:sym typeface="Quattrocento"/>
                </a:rPr>
                <a:t>Team Collaboration</a:t>
              </a:r>
            </a:p>
          </p:txBody>
        </p:sp>
      </p:grpSp>
      <p:grpSp>
        <p:nvGrpSpPr>
          <p:cNvPr id="74" name="Group 43">
            <a:extLst>
              <a:ext uri="{FF2B5EF4-FFF2-40B4-BE49-F238E27FC236}">
                <a16:creationId xmlns:a16="http://schemas.microsoft.com/office/drawing/2014/main" id="{16CDE248-7116-8B47-BB90-977F708F1B57}"/>
              </a:ext>
            </a:extLst>
          </p:cNvPr>
          <p:cNvGrpSpPr/>
          <p:nvPr/>
        </p:nvGrpSpPr>
        <p:grpSpPr>
          <a:xfrm>
            <a:off x="1749585" y="5436424"/>
            <a:ext cx="8882973" cy="3320176"/>
            <a:chOff x="-10258080" y="-3127940"/>
            <a:chExt cx="20256155" cy="4404687"/>
          </a:xfrm>
        </p:grpSpPr>
        <p:sp>
          <p:nvSpPr>
            <p:cNvPr id="75" name="Freeform 44">
              <a:extLst>
                <a:ext uri="{FF2B5EF4-FFF2-40B4-BE49-F238E27FC236}">
                  <a16:creationId xmlns:a16="http://schemas.microsoft.com/office/drawing/2014/main" id="{9021AB2A-A604-A508-2DE7-792C61350520}"/>
                </a:ext>
              </a:extLst>
            </p:cNvPr>
            <p:cNvSpPr/>
            <p:nvPr/>
          </p:nvSpPr>
          <p:spPr>
            <a:xfrm>
              <a:off x="0" y="0"/>
              <a:ext cx="9998075" cy="1276747"/>
            </a:xfrm>
            <a:custGeom>
              <a:avLst/>
              <a:gdLst/>
              <a:ahLst/>
              <a:cxnLst/>
              <a:rect l="l" t="t" r="r" b="b"/>
              <a:pathLst>
                <a:path w="9998075" h="1276747">
                  <a:moveTo>
                    <a:pt x="0" y="0"/>
                  </a:moveTo>
                  <a:lnTo>
                    <a:pt x="9998075" y="0"/>
                  </a:lnTo>
                  <a:lnTo>
                    <a:pt x="9998075" y="1276747"/>
                  </a:lnTo>
                  <a:lnTo>
                    <a:pt x="0" y="1276747"/>
                  </a:lnTo>
                  <a:close/>
                </a:path>
              </a:pathLst>
            </a:custGeom>
            <a:solidFill>
              <a:srgbClr val="000000">
                <a:alpha val="0"/>
              </a:srgbClr>
            </a:solidFill>
          </p:spPr>
        </p:sp>
        <p:sp>
          <p:nvSpPr>
            <p:cNvPr id="76" name="TextBox 45">
              <a:extLst>
                <a:ext uri="{FF2B5EF4-FFF2-40B4-BE49-F238E27FC236}">
                  <a16:creationId xmlns:a16="http://schemas.microsoft.com/office/drawing/2014/main" id="{D0A35DF4-6ABF-2AE4-59F0-77A92C2B9837}"/>
                </a:ext>
              </a:extLst>
            </p:cNvPr>
            <p:cNvSpPr txBox="1"/>
            <p:nvPr/>
          </p:nvSpPr>
          <p:spPr>
            <a:xfrm>
              <a:off x="-10258080" y="-3127940"/>
              <a:ext cx="9674924" cy="1371997"/>
            </a:xfrm>
            <a:prstGeom prst="rect">
              <a:avLst/>
            </a:prstGeom>
          </p:spPr>
          <p:txBody>
            <a:bodyPr lIns="0" tIns="0" rIns="0" bIns="0" rtlCol="0" anchor="t"/>
            <a:lstStyle/>
            <a:p>
              <a:pPr algn="l">
                <a:lnSpc>
                  <a:spcPts val="3750"/>
                </a:lnSpc>
              </a:pPr>
              <a:r>
                <a:rPr lang="en-US" sz="1600" dirty="0">
                  <a:latin typeface="Times New Roman" panose="02020603050405020304" pitchFamily="18" charset="0"/>
                  <a:ea typeface="Quattrocento"/>
                  <a:cs typeface="Times New Roman" panose="02020603050405020304" pitchFamily="18" charset="0"/>
                  <a:sym typeface="Quattrocento"/>
                </a:rPr>
                <a:t>We learned the importance of teamwork and communication within a collaborative project.</a:t>
              </a:r>
            </a:p>
          </p:txBody>
        </p:sp>
      </p:grpSp>
    </p:spTree>
    <p:extLst>
      <p:ext uri="{BB962C8B-B14F-4D97-AF65-F5344CB8AC3E}">
        <p14:creationId xmlns:p14="http://schemas.microsoft.com/office/powerpoint/2010/main" val="6747935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A7F0E-43CC-35BA-3888-6EDE17C87FE7}"/>
              </a:ext>
            </a:extLst>
          </p:cNvPr>
          <p:cNvSpPr txBox="1"/>
          <p:nvPr/>
        </p:nvSpPr>
        <p:spPr>
          <a:xfrm>
            <a:off x="896914" y="1334653"/>
            <a:ext cx="7191910" cy="3408690"/>
          </a:xfrm>
          <a:prstGeom prst="rect">
            <a:avLst/>
          </a:prstGeom>
          <a:noFill/>
        </p:spPr>
        <p:txBody>
          <a:bodyPr wrap="square" rtlCol="0">
            <a:spAutoFit/>
          </a:bodyPr>
          <a:lstStyle/>
          <a:p>
            <a:pPr lvl="0" fontAlgn="base">
              <a:lnSpc>
                <a:spcPct val="107000"/>
              </a:lnSpc>
              <a:spcAft>
                <a:spcPts val="65"/>
              </a:spcAft>
              <a:buClr>
                <a:srgbClr val="000000"/>
              </a:buClr>
              <a:buSzPts val="1150"/>
            </a:pPr>
            <a:r>
              <a:rPr lang="en-IN" sz="2400" b="1" u="sng"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Prerequisites (in terms of knowledge, concepts and material) for doing the Project:</a:t>
            </a:r>
            <a:r>
              <a:rPr lang="en-IN" sz="2400" b="1"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p>
          <a:p>
            <a:pPr lvl="0" fontAlgn="base">
              <a:lnSpc>
                <a:spcPct val="107000"/>
              </a:lnSpc>
              <a:spcAft>
                <a:spcPts val="65"/>
              </a:spcAft>
              <a:buClr>
                <a:srgbClr val="000000"/>
              </a:buClr>
              <a:buSzPts val="1150"/>
            </a:pPr>
            <a:endParaRPr lang="en-IN" sz="2400" b="1"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Basic knowledge of </a:t>
            </a:r>
            <a:r>
              <a:rPr lang="en-IN" sz="16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Python and its libraries.</a:t>
            </a:r>
            <a:endParaRPr lang="en-IN" sz="16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Familiarity with OpenCV, TensorFlow</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Knowledge of  Artificial Intelligence</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Experience with Amazon S3 for efficient and secure data storage.</a:t>
            </a:r>
            <a:endParaRPr lang="en-IN" sz="16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Experience with face recognition methods.</a:t>
            </a:r>
          </a:p>
          <a:p>
            <a:pPr lvl="1">
              <a:lnSpc>
                <a:spcPct val="107000"/>
              </a:lnSpc>
              <a:spcAft>
                <a:spcPts val="800"/>
              </a:spcAft>
              <a:buSzPts val="1000"/>
              <a:tabLst>
                <a:tab pos="914400" algn="l"/>
              </a:tabLst>
            </a:pPr>
            <a:endParaRPr lang="en-IN" dirty="0"/>
          </a:p>
        </p:txBody>
      </p:sp>
    </p:spTree>
    <p:extLst>
      <p:ext uri="{BB962C8B-B14F-4D97-AF65-F5344CB8AC3E}">
        <p14:creationId xmlns:p14="http://schemas.microsoft.com/office/powerpoint/2010/main" val="1350603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809DEFF-389C-9348-895E-74D9049AFD76}"/>
              </a:ext>
            </a:extLst>
          </p:cNvPr>
          <p:cNvSpPr txBox="1"/>
          <p:nvPr/>
        </p:nvSpPr>
        <p:spPr>
          <a:xfrm>
            <a:off x="1243173" y="1327441"/>
            <a:ext cx="6780944" cy="2312621"/>
          </a:xfrm>
          <a:prstGeom prst="rect">
            <a:avLst/>
          </a:prstGeom>
          <a:noFill/>
        </p:spPr>
        <p:txBody>
          <a:bodyPr wrap="square" rtlCol="0">
            <a:spAutoFit/>
          </a:bodyPr>
          <a:lstStyle/>
          <a:p>
            <a:pPr lvl="0" fontAlgn="base">
              <a:lnSpc>
                <a:spcPct val="107000"/>
              </a:lnSpc>
              <a:spcAft>
                <a:spcPts val="65"/>
              </a:spcAft>
              <a:buClr>
                <a:srgbClr val="000000"/>
              </a:buClr>
              <a:buSzPts val="1150"/>
            </a:pPr>
            <a:r>
              <a:rPr lang="en-IN" sz="2400" b="1" u="sng"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Material that may be required to make the project and where it might be available</a:t>
            </a:r>
          </a:p>
          <a:p>
            <a:pPr lvl="0" fontAlgn="base">
              <a:lnSpc>
                <a:spcPct val="107000"/>
              </a:lnSpc>
              <a:spcAft>
                <a:spcPts val="65"/>
              </a:spcAft>
              <a:buClr>
                <a:srgbClr val="000000"/>
              </a:buClr>
              <a:buSzPts val="1150"/>
            </a:pPr>
            <a:r>
              <a:rPr lang="en-IN" sz="2400" b="1"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Laptops/computers with internet access</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Software tools: </a:t>
            </a:r>
            <a:r>
              <a:rPr lang="en-IN" sz="16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PyCharm</a:t>
            </a:r>
            <a:r>
              <a:rPr lang="en-IN" sz="16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Excel</a:t>
            </a:r>
            <a:r>
              <a:rPr lang="en-IN" sz="16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(available online for free)</a:t>
            </a:r>
          </a:p>
          <a:p>
            <a:endParaRPr lang="en-IN" dirty="0"/>
          </a:p>
        </p:txBody>
      </p:sp>
    </p:spTree>
    <p:extLst>
      <p:ext uri="{BB962C8B-B14F-4D97-AF65-F5344CB8AC3E}">
        <p14:creationId xmlns:p14="http://schemas.microsoft.com/office/powerpoint/2010/main" val="10879638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4170C55-03E0-CF89-1AE9-5E10FD961757}"/>
              </a:ext>
            </a:extLst>
          </p:cNvPr>
          <p:cNvSpPr txBox="1"/>
          <p:nvPr/>
        </p:nvSpPr>
        <p:spPr>
          <a:xfrm>
            <a:off x="242047" y="1037011"/>
            <a:ext cx="3662603" cy="583750"/>
          </a:xfrm>
          <a:prstGeom prst="rect">
            <a:avLst/>
          </a:prstGeom>
          <a:noFill/>
        </p:spPr>
        <p:txBody>
          <a:bodyPr wrap="square" rtlCol="0">
            <a:spAutoFit/>
          </a:bodyPr>
          <a:lstStyle/>
          <a:p>
            <a:pPr lvl="0" fontAlgn="base">
              <a:lnSpc>
                <a:spcPct val="107000"/>
              </a:lnSpc>
              <a:spcAft>
                <a:spcPts val="65"/>
              </a:spcAft>
              <a:buClr>
                <a:srgbClr val="000000"/>
              </a:buClr>
              <a:buSzPts val="1150"/>
            </a:pPr>
            <a:r>
              <a:rPr lang="en-IN" sz="3200" b="1"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Conclusion:</a:t>
            </a:r>
          </a:p>
        </p:txBody>
      </p:sp>
      <p:sp>
        <p:nvSpPr>
          <p:cNvPr id="4" name="TextBox 3">
            <a:extLst>
              <a:ext uri="{FF2B5EF4-FFF2-40B4-BE49-F238E27FC236}">
                <a16:creationId xmlns:a16="http://schemas.microsoft.com/office/drawing/2014/main" id="{E61803B2-BB72-90B7-FD88-F78587BBDEE8}"/>
              </a:ext>
            </a:extLst>
          </p:cNvPr>
          <p:cNvSpPr txBox="1"/>
          <p:nvPr/>
        </p:nvSpPr>
        <p:spPr>
          <a:xfrm>
            <a:off x="242047" y="2055625"/>
            <a:ext cx="8659906" cy="2467150"/>
          </a:xfrm>
          <a:prstGeom prst="rect">
            <a:avLst/>
          </a:prstGeom>
          <a:noFill/>
        </p:spPr>
        <p:txBody>
          <a:bodyPr wrap="square" rtlCol="0">
            <a:spAutoFit/>
          </a:bodyPr>
          <a:lstStyle/>
          <a:p>
            <a:pPr algn="l">
              <a:lnSpc>
                <a:spcPts val="3750"/>
              </a:lnSpc>
            </a:pPr>
            <a:r>
              <a:rPr lang="en-US" sz="2000" dirty="0">
                <a:latin typeface="Times New Roman" panose="02020603050405020304" pitchFamily="18" charset="0"/>
                <a:ea typeface="Quattrocento"/>
                <a:cs typeface="Times New Roman" panose="02020603050405020304" pitchFamily="18" charset="0"/>
                <a:sym typeface="Quattrocento"/>
              </a:rPr>
              <a:t>This Project provided an incredible opportunity to apply our knowledge of AI and image processing to create a solution that can potentially enhance the learning experience for young learners. The future scope of this project includes expanding its capabilities by incorporating more sophisticated AI models, exploring new image processing techniques, and integrating it with various educational platforms.</a:t>
            </a:r>
          </a:p>
        </p:txBody>
      </p:sp>
    </p:spTree>
    <p:extLst>
      <p:ext uri="{BB962C8B-B14F-4D97-AF65-F5344CB8AC3E}">
        <p14:creationId xmlns:p14="http://schemas.microsoft.com/office/powerpoint/2010/main" val="21350329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DL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119" y="1316281"/>
            <a:ext cx="8592771" cy="47475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5138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14</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A62A602-78C1-468C-BB25-57CD481DB741}">
  <ds:schemaRefs>
    <ds:schemaRef ds:uri="http://schemas.microsoft.com/office/2006/documentManagement/types"/>
    <ds:schemaRef ds:uri="http://schemas.openxmlformats.org/package/2006/metadata/core-properties"/>
    <ds:schemaRef ds:uri="http://purl.org/dc/elements/1.1/"/>
    <ds:schemaRef ds:uri="http://www.w3.org/XML/1998/namespace"/>
    <ds:schemaRef ds:uri="http://schemas.microsoft.com/office/infopath/2007/PartnerControls"/>
    <ds:schemaRef ds:uri="http://purl.org/dc/terms/"/>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737ED6F0-5E4C-4CD0-9B68-9C53F925A6F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35471</TotalTime>
  <Words>667</Words>
  <Application>Microsoft Office PowerPoint</Application>
  <PresentationFormat>On-screen Show (4:3)</PresentationFormat>
  <Paragraphs>77</Paragraphs>
  <Slides>14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Courier New</vt:lpstr>
      <vt:lpstr>Quattrocento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Amol Sharma</cp:lastModifiedBy>
  <cp:revision>2345</cp:revision>
  <dcterms:created xsi:type="dcterms:W3CDTF">2010-04-09T07:36:15Z</dcterms:created>
  <dcterms:modified xsi:type="dcterms:W3CDTF">2026-05-16T20:34:25Z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